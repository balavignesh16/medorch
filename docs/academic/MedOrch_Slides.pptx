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charts/chart2.xml" ContentType="application/vnd.openxmlformats-officedocument.drawingml.chart+xml"/>
  <Override PartName="/ppt/slideMasters/slideMaster6.xml" ContentType="application/vnd.openxmlformats-officedocument.presentationml.slideMaster+xml"/>
  <Override PartName="/ppt/slides/slide6.xml" ContentType="application/vnd.openxmlformats-officedocument.presentationml.slide+xml"/>
  <Override PartName="/ppt/charts/chart3.xml" ContentType="application/vnd.openxmlformats-officedocument.drawingml.chart+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937"/>
                </a:solidFill>
                <a:latin typeface="Calibri"/>
              </a:defRPr>
            </a:pPr>
            <a:r>
              <a:rPr sz="1200" b="0" i="0" u="none" strike="noStrike">
                <a:solidFill>
                  <a:srgbClr val="1F2937"/>
                </a:solidFill>
                <a:latin typeface="Calibri"/>
              </a:rPr>
              <a:t>Share of encounters unusable or untested (%)</a:t>
            </a:r>
          </a:p>
        </c:rich>
      </c:tx>
      <c:layout/>
      <c:overlay val="0"/>
    </c:title>
    <c:autoTitleDeleted val="0"/>
    <c:plotArea>
      <c:layout/>
      <c:barChart>
        <c:barDir val="bar"/>
        <c:grouping val="clustered"/>
        <c:varyColors val="0"/>
        <c:ser>
          <c:idx val="0"/>
          <c:order val="0"/>
          <c:tx>
            <c:strRef>
              <c:f>Sheet1!$B$1</c:f>
              <c:strCache>
                <c:ptCount val="1"/>
                <c:pt idx="0">
                  <c:v>Percent of encounters</c:v>
                </c:pt>
              </c:strCache>
            </c:strRef>
          </c:tx>
          <c:spPr>
            <a:solidFill>
              <a:srgbClr val="EA6A12"/>
            </a:solidFill>
            <a:effectLst/>
          </c:spPr>
          <c:invertIfNegative val="0"/>
          <c:dLbls>
            <c:numFmt formatCode="0.0" sourceLinked="0"/>
            <c:txPr>
              <a:bodyPr/>
              <a:lstStyle/>
              <a:p>
                <a:pPr>
                  <a:defRPr b="0" i="0" strike="noStrike" sz="1100" u="none">
                    <a:solidFill>
                      <a:srgbClr val="1F2937"/>
                    </a:solidFill>
                    <a:latin typeface="Calibri"/>
                  </a:defRPr>
                </a:pPr>
              </a:p>
            </c:txPr>
            <c:showLegendKey val="0"/>
            <c:showVal val="1"/>
            <c:showCatName val="0"/>
            <c:showSerName val="0"/>
            <c:showPercent val="0"/>
            <c:showBubbleSize val="0"/>
            <c:showLeaderLines val="0"/>
          </c:dLbls>
          <c:cat>
            <c:multiLvlStrRef>
              <c:f>Sheet1!$A$2:$A$7</c:f>
              <c:multiLvlStrCache>
                <c:ptCount val="6"/>
                <c:lvl>
                  <c:pt idx="0">
                    <c:v>race</c:v>
                  </c:pt>
                  <c:pt idx="1">
                    <c:v>payer_code</c:v>
                  </c:pt>
                  <c:pt idx="2">
                    <c:v>medical_specialty</c:v>
                  </c:pt>
                  <c:pt idx="3">
                    <c:v>A1Cresult*</c:v>
                  </c:pt>
                  <c:pt idx="4">
                    <c:v>max_glu_serum*</c:v>
                  </c:pt>
                  <c:pt idx="5">
                    <c:v>weight</c:v>
                  </c:pt>
                </c:lvl>
              </c:multiLvlStrCache>
            </c:multiLvlStrRef>
          </c:cat>
          <c:val>
            <c:numRef>
              <c:f>Sheet1!$B$2:$B$7</c:f>
              <c:numCache>
                <c:formatCode>General</c:formatCode>
                <c:ptCount val="6"/>
                <c:pt idx="0">
                  <c:v>2.2</c:v>
                </c:pt>
                <c:pt idx="1">
                  <c:v>39.6</c:v>
                </c:pt>
                <c:pt idx="2">
                  <c:v>49.1</c:v>
                </c:pt>
                <c:pt idx="3">
                  <c:v>83.3</c:v>
                </c:pt>
                <c:pt idx="4">
                  <c:v>94.8</c:v>
                </c:pt>
                <c:pt idx="5">
                  <c:v>96.9</c:v>
                </c:pt>
              </c:numCache>
            </c:numRef>
          </c:val>
        </c:ser>
        <c:dLbls>
          <c:numFmt formatCode="0.0" sourceLinked="0"/>
          <c:txPr>
            <a:bodyPr/>
            <a:lstStyle/>
            <a:p>
              <a:pPr>
                <a:defRPr b="0" i="0" strike="noStrike" sz="1100" u="none">
                  <a:solidFill>
                    <a:srgbClr val="1F2937"/>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max val="11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000" b="0" i="0" u="none" strike="noStrike">
                <a:solidFill>
                  <a:srgbClr val="5B667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937"/>
                </a:solidFill>
                <a:latin typeface="Calibri"/>
              </a:defRPr>
            </a:pPr>
            <a:r>
              <a:rPr sz="1200" b="0" i="0" u="none" strike="noStrike">
                <a:solidFill>
                  <a:srgbClr val="1F2937"/>
                </a:solidFill>
                <a:latin typeface="Calibri"/>
              </a:rPr>
              <a:t>Test set, percent</a:t>
            </a:r>
          </a:p>
        </c:rich>
      </c:tx>
      <c:layout/>
      <c:overlay val="0"/>
    </c:title>
    <c:autoTitleDeleted val="0"/>
    <c:plotArea>
      <c:layout/>
      <c:barChart>
        <c:barDir val="col"/>
        <c:grouping val="clustered"/>
        <c:varyColors val="0"/>
        <c:ser>
          <c:idx val="0"/>
          <c:order val="0"/>
          <c:tx>
            <c:strRef>
              <c:f>Sheet1!$B$1</c:f>
              <c:strCache>
                <c:ptCount val="1"/>
                <c:pt idx="0">
                  <c:v>Recall</c:v>
                </c:pt>
              </c:strCache>
            </c:strRef>
          </c:tx>
          <c:spPr>
            <a:solidFill>
              <a:srgbClr val="0F766E"/>
            </a:solidFill>
            <a:effectLst/>
          </c:spPr>
          <c:invertIfNegative val="0"/>
          <c:dLbls>
            <c:numFmt formatCode="0.0" sourceLinked="0"/>
            <c:txPr>
              <a:bodyPr/>
              <a:lstStyle/>
              <a:p>
                <a:pPr>
                  <a:defRPr b="0" i="0" strike="noStrike" sz="1000" u="none">
                    <a:solidFill>
                      <a:srgbClr val="1F2937"/>
                    </a:solidFill>
                    <a:latin typeface="Calibri"/>
                  </a:defRPr>
                </a:pPr>
              </a:p>
            </c:txPr>
            <c:showLegendKey val="0"/>
            <c:showVal val="1"/>
            <c:showCatName val="0"/>
            <c:showSerName val="0"/>
            <c:showPercent val="0"/>
            <c:showBubbleSize val="0"/>
            <c:showLeaderLines val="0"/>
          </c:dLbls>
          <c:cat>
            <c:multiLvlStrRef>
              <c:f>Sheet1!$A$2:$A$4</c:f>
              <c:multiLvlStrCache>
                <c:ptCount val="3"/>
                <c:lvl>
                  <c:pt idx="0">
                    <c:v>Default 0.5</c:v>
                  </c:pt>
                  <c:pt idx="1">
                    <c:v>Max-F1 (0.142)</c:v>
                  </c:pt>
                  <c:pt idx="2">
                    <c:v>Top 10% (0.173)</c:v>
                  </c:pt>
                </c:lvl>
              </c:multiLvlStrCache>
            </c:multiLvlStrRef>
          </c:cat>
          <c:val>
            <c:numRef>
              <c:f>Sheet1!$B$2:$B$4</c:f>
              <c:numCache>
                <c:formatCode>General</c:formatCode>
                <c:ptCount val="3"/>
                <c:pt idx="0">
                  <c:v>0.6</c:v>
                </c:pt>
                <c:pt idx="1">
                  <c:v>43.8</c:v>
                </c:pt>
                <c:pt idx="2">
                  <c:v>24.8</c:v>
                </c:pt>
              </c:numCache>
            </c:numRef>
          </c:val>
        </c:ser>
        <c:ser>
          <c:idx val="1"/>
          <c:order val="1"/>
          <c:tx>
            <c:strRef>
              <c:f>Sheet1!$C$1</c:f>
              <c:strCache>
                <c:ptCount val="1"/>
                <c:pt idx="0">
                  <c:v>Precision</c:v>
                </c:pt>
              </c:strCache>
            </c:strRef>
          </c:tx>
          <c:spPr>
            <a:solidFill>
              <a:srgbClr val="EA6A12"/>
            </a:solidFill>
            <a:effectLst/>
          </c:spPr>
          <c:invertIfNegative val="0"/>
          <c:dLbls>
            <c:numFmt formatCode="0.0" sourceLinked="0"/>
            <c:txPr>
              <a:bodyPr/>
              <a:lstStyle/>
              <a:p>
                <a:pPr>
                  <a:defRPr b="0" i="0" strike="noStrike" sz="1000" u="none">
                    <a:solidFill>
                      <a:srgbClr val="1F2937"/>
                    </a:solidFill>
                    <a:latin typeface="Calibri"/>
                  </a:defRPr>
                </a:pPr>
              </a:p>
            </c:txPr>
            <c:showLegendKey val="0"/>
            <c:showVal val="1"/>
            <c:showCatName val="0"/>
            <c:showSerName val="0"/>
            <c:showPercent val="0"/>
            <c:showBubbleSize val="0"/>
            <c:showLeaderLines val="0"/>
          </c:dLbls>
          <c:cat>
            <c:multiLvlStrRef>
              <c:f>Sheet1!$A$2:$A$4</c:f>
              <c:multiLvlStrCache>
                <c:ptCount val="3"/>
                <c:lvl>
                  <c:pt idx="0">
                    <c:v>Default 0.5</c:v>
                  </c:pt>
                  <c:pt idx="1">
                    <c:v>Max-F1 (0.142)</c:v>
                  </c:pt>
                  <c:pt idx="2">
                    <c:v>Top 10% (0.173)</c:v>
                  </c:pt>
                </c:lvl>
              </c:multiLvlStrCache>
            </c:multiLvlStrRef>
          </c:cat>
          <c:val>
            <c:numRef>
              <c:f>Sheet1!$C$2:$C$4</c:f>
              <c:numCache>
                <c:formatCode>General</c:formatCode>
                <c:ptCount val="3"/>
                <c:pt idx="0">
                  <c:v>63.6</c:v>
                </c:pt>
                <c:pt idx="1">
                  <c:v>21.1</c:v>
                </c:pt>
                <c:pt idx="2">
                  <c:v>26.5</c:v>
                </c:pt>
              </c:numCache>
            </c:numRef>
          </c:val>
        </c:ser>
        <c:ser>
          <c:idx val="2"/>
          <c:order val="2"/>
          <c:tx>
            <c:strRef>
              <c:f>Sheet1!$D$1</c:f>
              <c:strCache>
                <c:ptCount val="1"/>
                <c:pt idx="0">
                  <c:v>Share flagged</c:v>
                </c:pt>
              </c:strCache>
            </c:strRef>
          </c:tx>
          <c:spPr>
            <a:solidFill>
              <a:srgbClr val="0B3C49"/>
            </a:solidFill>
            <a:effectLst/>
          </c:spPr>
          <c:invertIfNegative val="0"/>
          <c:dLbls>
            <c:numFmt formatCode="0.0" sourceLinked="0"/>
            <c:txPr>
              <a:bodyPr/>
              <a:lstStyle/>
              <a:p>
                <a:pPr>
                  <a:defRPr b="0" i="0" strike="noStrike" sz="1000" u="none">
                    <a:solidFill>
                      <a:srgbClr val="1F2937"/>
                    </a:solidFill>
                    <a:latin typeface="Calibri"/>
                  </a:defRPr>
                </a:pPr>
              </a:p>
            </c:txPr>
            <c:showLegendKey val="0"/>
            <c:showVal val="1"/>
            <c:showCatName val="0"/>
            <c:showSerName val="0"/>
            <c:showPercent val="0"/>
            <c:showBubbleSize val="0"/>
            <c:showLeaderLines val="0"/>
          </c:dLbls>
          <c:cat>
            <c:multiLvlStrRef>
              <c:f>Sheet1!$A$2:$A$4</c:f>
              <c:multiLvlStrCache>
                <c:ptCount val="3"/>
                <c:lvl>
                  <c:pt idx="0">
                    <c:v>Default 0.5</c:v>
                  </c:pt>
                  <c:pt idx="1">
                    <c:v>Max-F1 (0.142)</c:v>
                  </c:pt>
                  <c:pt idx="2">
                    <c:v>Top 10% (0.173)</c:v>
                  </c:pt>
                </c:lvl>
              </c:multiLvlStrCache>
            </c:multiLvlStrRef>
          </c:cat>
          <c:val>
            <c:numRef>
              <c:f>Sheet1!$D$2:$D$4</c:f>
              <c:numCache>
                <c:formatCode>General</c:formatCode>
                <c:ptCount val="3"/>
                <c:pt idx="0">
                  <c:v>0.1</c:v>
                </c:pt>
                <c:pt idx="1">
                  <c:v>23.3</c:v>
                </c:pt>
                <c:pt idx="2">
                  <c:v>10.5</c:v>
                </c:pt>
              </c:numCache>
            </c:numRef>
          </c:val>
        </c:ser>
        <c:dLbls>
          <c:numFmt formatCode="0.0" sourceLinked="0"/>
          <c:txPr>
            <a:bodyPr/>
            <a:lstStyle/>
            <a:p>
              <a:pPr>
                <a:defRPr b="0" i="0" strike="noStrike" sz="1000" u="none">
                  <a:solidFill>
                    <a:srgbClr val="1F2937"/>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max val="7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B6670"/>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1F2937"/>
              </a:solidFill>
              <a:latin typeface="Calibri"/>
              <a:cs typeface="Calibri"/>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200" b="0" i="0" u="none" strike="noStrike">
                <a:solidFill>
                  <a:srgbClr val="1F2937"/>
                </a:solidFill>
                <a:latin typeface="Calibri"/>
              </a:defRPr>
            </a:pPr>
            <a:r>
              <a:rPr sz="1200" b="0" i="0" u="none" strike="noStrike">
                <a:solidFill>
                  <a:srgbClr val="1F2937"/>
                </a:solidFill>
                <a:latin typeface="Calibri"/>
              </a:rPr>
              <a:t>Mean absolute SHAP value (log-odds)</a:t>
            </a:r>
          </a:p>
        </c:rich>
      </c:tx>
      <c:layout/>
      <c:overlay val="0"/>
    </c:title>
    <c:autoTitleDeleted val="0"/>
    <c:plotArea>
      <c:layout/>
      <c:barChart>
        <c:barDir val="bar"/>
        <c:grouping val="clustered"/>
        <c:varyColors val="0"/>
        <c:ser>
          <c:idx val="0"/>
          <c:order val="0"/>
          <c:tx>
            <c:strRef>
              <c:f>Sheet1!$B$1</c:f>
              <c:strCache>
                <c:ptCount val="1"/>
                <c:pt idx="0">
                  <c:v>Mean |SHAP|</c:v>
                </c:pt>
              </c:strCache>
            </c:strRef>
          </c:tx>
          <c:spPr>
            <a:solidFill>
              <a:srgbClr val="0F766E"/>
            </a:solidFill>
            <a:effectLst/>
          </c:spPr>
          <c:invertIfNegative val="0"/>
          <c:dLbls>
            <c:numFmt formatCode="0.000" sourceLinked="0"/>
            <c:txPr>
              <a:bodyPr/>
              <a:lstStyle/>
              <a:p>
                <a:pPr>
                  <a:defRPr b="0" i="0" strike="noStrike" sz="1100" u="none">
                    <a:solidFill>
                      <a:srgbClr val="1F2937"/>
                    </a:solidFill>
                    <a:latin typeface="Calibri"/>
                  </a:defRPr>
                </a:pPr>
              </a:p>
            </c:txPr>
            <c:showLegendKey val="0"/>
            <c:showVal val="1"/>
            <c:showCatName val="0"/>
            <c:showSerName val="0"/>
            <c:showPercent val="0"/>
            <c:showBubbleSize val="0"/>
            <c:showLeaderLines val="0"/>
          </c:dLbls>
          <c:cat>
            <c:multiLvlStrRef>
              <c:f>Sheet1!$A$2:$A$9</c:f>
              <c:multiLvlStrCache>
                <c:ptCount val="8"/>
                <c:lvl>
                  <c:pt idx="0">
                    <c:v>Number of medications</c:v>
                  </c:pt>
                  <c:pt idx="1">
                    <c:v>Age</c:v>
                  </c:pt>
                  <c:pt idx="2">
                    <c:v>Number of diagnoses</c:v>
                  </c:pt>
                  <c:pt idx="3">
                    <c:v>Days in hospital</c:v>
                  </c:pt>
                  <c:pt idx="4">
                    <c:v>Primary diagnosis group</c:v>
                  </c:pt>
                  <c:pt idx="5">
                    <c:v>Total prior visits</c:v>
                  </c:pt>
                  <c:pt idx="6">
                    <c:v>Discharge disposition</c:v>
                  </c:pt>
                  <c:pt idx="7">
                    <c:v>Prior inpatient visits</c:v>
                  </c:pt>
                </c:lvl>
              </c:multiLvlStrCache>
            </c:multiLvlStrRef>
          </c:cat>
          <c:val>
            <c:numRef>
              <c:f>Sheet1!$B$2:$B$9</c:f>
              <c:numCache>
                <c:formatCode>General</c:formatCode>
                <c:ptCount val="8"/>
                <c:pt idx="0">
                  <c:v>0.057</c:v>
                </c:pt>
                <c:pt idx="1">
                  <c:v>0.059</c:v>
                </c:pt>
                <c:pt idx="2">
                  <c:v>0.064</c:v>
                </c:pt>
                <c:pt idx="3">
                  <c:v>0.064</c:v>
                </c:pt>
                <c:pt idx="4">
                  <c:v>0.076</c:v>
                </c:pt>
                <c:pt idx="5">
                  <c:v>0.092</c:v>
                </c:pt>
                <c:pt idx="6">
                  <c:v>0.211</c:v>
                </c:pt>
                <c:pt idx="7">
                  <c:v>0.234</c:v>
                </c:pt>
              </c:numCache>
            </c:numRef>
          </c:val>
        </c:ser>
        <c:dLbls>
          <c:numFmt formatCode="0.000" sourceLinked="0"/>
          <c:txPr>
            <a:bodyPr/>
            <a:lstStyle/>
            <a:p>
              <a:pPr>
                <a:defRPr b="0" i="0" strike="noStrike" sz="1100" u="none">
                  <a:solidFill>
                    <a:srgbClr val="1F2937"/>
                  </a:solidFill>
                  <a:latin typeface="Calibri"/>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1F2937"/>
                </a:solidFill>
                <a:latin typeface="Calibri"/>
              </a:defRPr>
            </a:pPr>
            <a:endParaRPr lang="en-US"/>
          </a:p>
        </c:txPr>
        <c:crossAx val="2094734552"/>
        <c:crosses val="autoZero"/>
        <c:auto val="1"/>
        <c:lblAlgn val="ctr"/>
        <c:noMultiLvlLbl val="1"/>
      </c:catAx>
      <c:valAx>
        <c:axId val="2094734552"/>
        <c:scaling>
          <c:orientation val="minMax"/>
          <c:max val="0.28"/>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Calibri"/>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question: can we predict 30-day readmission for diabetic patients, and, just as important, can we show honestly how well and for whom? Everything in this talk comes from saved results in the project repository, not hand-entered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Readmission within 30 days is a standard quality indicator and a hard prediction problem; published models usually reach only modest discrimination. The aim here is a trustworthy evaluation, not a record-breaking score. The dataset is public and de-identified.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Profiling the data first changed the design. Weight is almost entirely missing, so it was excluded. HbA1c was not performed for most encounters, which limits any analysis of it. Many patients have several encounters, which is why the split is by patient. The file also has no 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 that writes (cleaning, training, explanations, audits) is done offline by scripts that produce saved artifacts. At runtime the web app and engine only read. Every page shows saved results or says they are missing, so there are no placeholder numbers. On the right are the four design choices that make the evaluation trustworthy.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held-out ROC-AUC is 0.669, modest but typical. The striking result is the threshold: the textbook 0.5 cutoff catches under 1% of readmissions because only about 11% of encounters are readmitted. Choosing the cutoff on validation data catches 43.8% at the cost of precision. Which point is right depends on the cost of a missed readmission versus an unnecessary follow-up.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SHAP values show how much each feature moves the model score. Prior inpatient visits and the discharge destination dominate; more prior visits, longer stays, more diagnoses and more medications all raise predicted risk, which is clinically plausible. These are associations the model learned, not causes.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checked recall, false-positive rate and AUC across race, gender and age at the operating threshold, with Wilson intervals. The large race gap comes from a group of 122 encounters with only 10 readmissions, and its interval overlaps the others, so it is more plausibly noise. The age differences are better supported. Gender is within the review threshold. This is a visibility tool, not a fairness certification.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replication-style analysis of the question in the paper that introduced this dataset. Unadjusted rates fall from not measured to measured with no medication change, and all three adjusted odds ratios are below one, matching the direction of the paper, but none is individually significant. The association does depend on primary diagnosis. HbA1c testing is clinically selected, so there is no causal claim, and this is not an exact reproduction of the published cohort.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Users ask in plain English. The model only proposes a structured plan; the SQL guard and a database authorizer independently enforce one read-only query; any explanation must cite real result cells or the exact table is shown instead. On 12 curated questions run live on a local 14-billion-parameter model, all 12 were correct. Live testing found three defects that unit tests missed, and each is now fixed and tested.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Live demo, about five minutes. Open the tabs in this order. If the assistant is slow, use a suggested question; if anything fails, play the recorded video and open the saved PDF. See docs/DEMO_CHECKLIST.md.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the limits. The data are old and undated, there is no external validation, calibration used cross-validation inside the training split, and stored scores include training rows. For responsible use: de-identified data, identifiers never exposed by the assistant, prompts stored only as hashes, labelled definitions, demonstration-only screens hidden by default, and a not-for-clinical-use notice on every prediction page.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methodological lesson: with modest predictive signal, the care taken over the split, the threshold and the reporting determines whether results can be trusted. Then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B3C49"/>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CC3C0"/>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4754880"/>
            <a:ext cx="4572000" cy="228600"/>
          </a:xfrm>
          <a:prstGeom prst="rect">
            <a:avLst/>
          </a:prstGeom>
          <a:noFill/>
          <a:ln/>
        </p:spPr>
        <p:txBody>
          <a:bodyPr wrap="square" lIns="0" tIns="0" rIns="0" bIns="0" rtlCol="0" anchor="ctr"/>
          <a:lstStyle/>
          <a:p>
            <a:pPr indent="0" marL="0">
              <a:buNone/>
            </a:pPr>
            <a:r>
              <a:rPr lang="en-US" sz="900" dirty="0">
                <a:solidFill>
                  <a:srgbClr val="5B6670"/>
                </a:solidFill>
                <a:latin typeface="Calibri" pitchFamily="34" charset="0"/>
                <a:ea typeface="Calibri" pitchFamily="34" charset="-122"/>
                <a:cs typeface="Calibri" pitchFamily="34" charset="-120"/>
              </a:rPr>
              <a:t>Readmission analytics project</a:t>
            </a:r>
            <a:endParaRPr lang="en-US" sz="9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CC3C0"/>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640080" y="822960"/>
            <a:ext cx="7863840" cy="320040"/>
          </a:xfrm>
          <a:prstGeom prst="rect">
            <a:avLst/>
          </a:prstGeom>
          <a:noFill/>
          <a:ln/>
        </p:spPr>
        <p:txBody>
          <a:bodyPr wrap="square" lIns="0" tIns="0" rIns="0" bIns="0" rtlCol="0" anchor="ctr"/>
          <a:lstStyle/>
          <a:p>
            <a:pPr indent="0" marL="0">
              <a:buNone/>
            </a:pPr>
            <a:r>
              <a:rPr lang="en-US" sz="1400" b="1" spc="300" kern="0" dirty="0">
                <a:solidFill>
                  <a:srgbClr val="5EEAD4"/>
                </a:solidFill>
                <a:latin typeface="Calibri" pitchFamily="34" charset="0"/>
                <a:ea typeface="Calibri" pitchFamily="34" charset="-122"/>
                <a:cs typeface="Calibri" pitchFamily="34" charset="-120"/>
              </a:rPr>
              <a:t>HEALTHCARE &amp; DATA ANALYTICS</a:t>
            </a:r>
            <a:endParaRPr lang="en-US" sz="1400" dirty="0"/>
          </a:p>
        </p:txBody>
      </p:sp>
      <p:sp>
        <p:nvSpPr>
          <p:cNvPr id="4" name="Title"/>
          <p:cNvSpPr txBox="1"/>
          <p:nvPr/>
        </p:nvSpPr>
        <p:spPr>
          <a:xfrm>
            <a:off x="640080" y="1234440"/>
            <a:ext cx="8046720" cy="1371600"/>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Predicting and understanding 30‑day hospital readmission in diabetes</a:t>
            </a:r>
            <a:endParaRPr lang="en-US" sz="3400" dirty="0"/>
          </a:p>
        </p:txBody>
      </p:sp>
      <p:sp>
        <p:nvSpPr>
          <p:cNvPr id="5" name="Text 2"/>
          <p:cNvSpPr txBox="1"/>
          <p:nvPr/>
        </p:nvSpPr>
        <p:spPr>
          <a:xfrm>
            <a:off x="640080" y="2926080"/>
            <a:ext cx="7498080" cy="731520"/>
          </a:xfrm>
          <a:prstGeom prst="rect">
            <a:avLst/>
          </a:prstGeom>
          <a:noFill/>
          <a:ln/>
        </p:spPr>
        <p:txBody>
          <a:bodyPr wrap="square" lIns="0" tIns="0" rIns="0" bIns="0" rtlCol="0" anchor="t"/>
          <a:lstStyle/>
          <a:p>
            <a:pPr indent="0" marL="0">
              <a:buNone/>
            </a:pPr>
            <a:r>
              <a:rPr lang="en-US" sz="1800" i="1" dirty="0">
                <a:solidFill>
                  <a:srgbClr val="CADCFC"/>
                </a:solidFill>
                <a:latin typeface="Calibri" pitchFamily="34" charset="0"/>
                <a:ea typeface="Calibri" pitchFamily="34" charset="-122"/>
                <a:cs typeface="Calibri" pitchFamily="34" charset="-120"/>
              </a:rPr>
              <a:t>A reproducible, fairness-audited analytics platform with a safety-checked AI assistant</a:t>
            </a:r>
            <a:endParaRPr lang="en-US" sz="1800" dirty="0"/>
          </a:p>
        </p:txBody>
      </p:sp>
      <p:sp>
        <p:nvSpPr>
          <p:cNvPr id="6" name="Text 3"/>
          <p:cNvSpPr txBox="1"/>
          <p:nvPr/>
        </p:nvSpPr>
        <p:spPr>
          <a:xfrm>
            <a:off x="640080" y="4206240"/>
            <a:ext cx="7315200" cy="320040"/>
          </a:xfrm>
          <a:prstGeom prst="rect">
            <a:avLst/>
          </a:prstGeom>
          <a:noFill/>
          <a:ln/>
        </p:spPr>
        <p:txBody>
          <a:bodyPr wrap="square" lIns="0" tIns="0" rIns="0" bIns="0" rtlCol="0" anchor="ctr"/>
          <a:lstStyle/>
          <a:p>
            <a:pPr indent="0" marL="0">
              <a:buNone/>
            </a:pPr>
            <a:r>
              <a:rPr lang="en-US" sz="1300" dirty="0">
                <a:solidFill>
                  <a:srgbClr val="9CC3C0"/>
                </a:solidFill>
                <a:latin typeface="Calibri" pitchFamily="34" charset="0"/>
                <a:ea typeface="Calibri" pitchFamily="34" charset="-122"/>
                <a:cs typeface="Calibri" pitchFamily="34" charset="-120"/>
              </a:rPr>
              <a:t>[Your name] · [Course] · October 2026</a:t>
            </a:r>
            <a:endParaRPr lang="en-US" sz="13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CC3C0"/>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0B3C49"/>
                </a:solidFill>
                <a:latin typeface="Cambria" pitchFamily="34" charset="0"/>
                <a:ea typeface="Cambria" pitchFamily="34" charset="-122"/>
                <a:cs typeface="Cambria" pitchFamily="34" charset="-120"/>
              </a:rPr>
              <a:t>Why 30-day readmission matters</a:t>
            </a:r>
            <a:endParaRPr lang="en-US" sz="3000" dirty="0"/>
          </a:p>
        </p:txBody>
      </p:sp>
      <p:sp>
        <p:nvSpPr>
          <p:cNvPr id="4" name="Text 1"/>
          <p:cNvSpPr txBox="1"/>
          <p:nvPr/>
        </p:nvSpPr>
        <p:spPr>
          <a:xfrm>
            <a:off x="457200" y="1234440"/>
            <a:ext cx="4206240" cy="1700784"/>
          </a:xfrm>
          <a:prstGeom prst="rect">
            <a:avLst/>
          </a:prstGeom>
          <a:noFill/>
          <a:ln/>
        </p:spPr>
        <p:txBody>
          <a:bodyPr wrap="square" lIns="0" tIns="0" rIns="0" bIns="0" rtlCol="0" anchor="t"/>
          <a:lstStyle/>
          <a:p>
            <a:pPr marL="177800" indent="-177800">
              <a:spcAft>
                <a:spcPts val="1296"/>
              </a:spcAft>
              <a:buSzPct val="100000"/>
              <a:buChar char="•"/>
            </a:pPr>
            <a:r>
              <a:rPr lang="en-US" sz="1600" dirty="0">
                <a:solidFill>
                  <a:srgbClr val="1F2937"/>
                </a:solidFill>
                <a:latin typeface="Calibri" pitchFamily="34" charset="0"/>
                <a:ea typeface="Calibri" pitchFamily="34" charset="-122"/>
                <a:cs typeface="Calibri" pitchFamily="34" charset="-120"/>
              </a:rPr>
              <a:t>A quality measure: hospitals are compared on how many patients return within 30 days</a:t>
            </a:r>
            <a:endParaRPr lang="en-US" sz="1600" dirty="0"/>
          </a:p>
          <a:p>
            <a:pPr marL="177800" indent="-177800">
              <a:spcAft>
                <a:spcPts val="1296"/>
              </a:spcAft>
              <a:buSzPct val="100000"/>
              <a:buChar char="•"/>
            </a:pPr>
            <a:r>
              <a:rPr lang="en-US" sz="1600" dirty="0">
                <a:solidFill>
                  <a:srgbClr val="1F2937"/>
                </a:solidFill>
                <a:latin typeface="Calibri" pitchFamily="34" charset="0"/>
                <a:ea typeface="Calibri" pitchFamily="34" charset="-122"/>
                <a:cs typeface="Calibri" pitchFamily="34" charset="-120"/>
              </a:rPr>
              <a:t>A hard problem: administrative data carry limited signal, so modest accuracy is expected</a:t>
            </a:r>
            <a:endParaRPr lang="en-US" sz="1600" dirty="0"/>
          </a:p>
          <a:p>
            <a:pPr marL="177800" indent="-177800">
              <a:spcAft>
                <a:spcPts val="1296"/>
              </a:spcAft>
              <a:buSzPct val="100000"/>
              <a:buChar char="•"/>
            </a:pPr>
            <a:r>
              <a:rPr lang="en-US" sz="1600" dirty="0">
                <a:solidFill>
                  <a:srgbClr val="1F2937"/>
                </a:solidFill>
                <a:latin typeface="Calibri" pitchFamily="34" charset="0"/>
                <a:ea typeface="Calibri" pitchFamily="34" charset="-122"/>
                <a:cs typeface="Calibri" pitchFamily="34" charset="-120"/>
              </a:rPr>
              <a:t>Our goal: evaluate honestly, explain the drivers, and audit fairness</a:t>
            </a:r>
            <a:endParaRPr lang="en-US" sz="1600" dirty="0"/>
          </a:p>
        </p:txBody>
      </p:sp>
      <p:sp>
        <p:nvSpPr>
          <p:cNvPr id="5" name="Stat card"/>
          <p:cNvSpPr/>
          <p:nvPr/>
        </p:nvSpPr>
        <p:spPr>
          <a:xfrm>
            <a:off x="5029200" y="1188720"/>
            <a:ext cx="3657600" cy="1051560"/>
          </a:xfrm>
          <a:prstGeom prst="roundRect">
            <a:avLst>
              <a:gd name="adj" fmla="val 6957"/>
            </a:avLst>
          </a:prstGeom>
          <a:solidFill>
            <a:srgbClr val="E6F2F1"/>
          </a:solidFill>
          <a:ln w="6350">
            <a:solidFill>
              <a:srgbClr val="E6F2F1"/>
            </a:solidFill>
            <a:prstDash val="solid"/>
          </a:ln>
        </p:spPr>
      </p:sp>
      <p:sp>
        <p:nvSpPr>
          <p:cNvPr id="6" name="Text 3"/>
          <p:cNvSpPr txBox="1"/>
          <p:nvPr/>
        </p:nvSpPr>
        <p:spPr>
          <a:xfrm>
            <a:off x="5166360" y="1261872"/>
            <a:ext cx="3383280" cy="525780"/>
          </a:xfrm>
          <a:prstGeom prst="rect">
            <a:avLst/>
          </a:prstGeom>
          <a:noFill/>
          <a:ln/>
        </p:spPr>
        <p:txBody>
          <a:bodyPr wrap="square" lIns="0" tIns="0" rIns="0" bIns="0" rtlCol="0" anchor="ctr"/>
          <a:lstStyle/>
          <a:p>
            <a:pPr indent="0" marL="0">
              <a:buNone/>
            </a:pPr>
            <a:r>
              <a:rPr lang="en-US" sz="3400" b="1" dirty="0">
                <a:solidFill>
                  <a:srgbClr val="0F766E"/>
                </a:solidFill>
                <a:latin typeface="Cambria" pitchFamily="34" charset="0"/>
                <a:ea typeface="Cambria" pitchFamily="34" charset="-122"/>
                <a:cs typeface="Cambria" pitchFamily="34" charset="-120"/>
              </a:rPr>
              <a:t>11.2%</a:t>
            </a:r>
            <a:endParaRPr lang="en-US" sz="3400" dirty="0"/>
          </a:p>
        </p:txBody>
      </p:sp>
      <p:sp>
        <p:nvSpPr>
          <p:cNvPr id="7" name="Text 4"/>
          <p:cNvSpPr txBox="1"/>
          <p:nvPr/>
        </p:nvSpPr>
        <p:spPr>
          <a:xfrm>
            <a:off x="5166360" y="1767078"/>
            <a:ext cx="3383280" cy="420624"/>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of encounters are readmitted within 30 days</a:t>
            </a:r>
            <a:endParaRPr lang="en-US" sz="1200" dirty="0"/>
          </a:p>
        </p:txBody>
      </p:sp>
      <p:sp>
        <p:nvSpPr>
          <p:cNvPr id="8" name="Stat card"/>
          <p:cNvSpPr/>
          <p:nvPr/>
        </p:nvSpPr>
        <p:spPr>
          <a:xfrm>
            <a:off x="5029200" y="2377440"/>
            <a:ext cx="3657600" cy="1051560"/>
          </a:xfrm>
          <a:prstGeom prst="roundRect">
            <a:avLst>
              <a:gd name="adj" fmla="val 6957"/>
            </a:avLst>
          </a:prstGeom>
          <a:solidFill>
            <a:srgbClr val="E6F2F1"/>
          </a:solidFill>
          <a:ln w="6350">
            <a:solidFill>
              <a:srgbClr val="E6F2F1"/>
            </a:solidFill>
            <a:prstDash val="solid"/>
          </a:ln>
        </p:spPr>
      </p:sp>
      <p:sp>
        <p:nvSpPr>
          <p:cNvPr id="9" name="Text 6"/>
          <p:cNvSpPr txBox="1"/>
          <p:nvPr/>
        </p:nvSpPr>
        <p:spPr>
          <a:xfrm>
            <a:off x="5166360" y="2450592"/>
            <a:ext cx="3383280" cy="525780"/>
          </a:xfrm>
          <a:prstGeom prst="rect">
            <a:avLst/>
          </a:prstGeom>
          <a:noFill/>
          <a:ln/>
        </p:spPr>
        <p:txBody>
          <a:bodyPr wrap="square" lIns="0" tIns="0" rIns="0" bIns="0" rtlCol="0" anchor="ctr"/>
          <a:lstStyle/>
          <a:p>
            <a:pPr indent="0" marL="0">
              <a:buNone/>
            </a:pPr>
            <a:r>
              <a:rPr lang="en-US" sz="3400" b="1" dirty="0">
                <a:solidFill>
                  <a:srgbClr val="0B3C49"/>
                </a:solidFill>
                <a:latin typeface="Cambria" pitchFamily="34" charset="0"/>
                <a:ea typeface="Cambria" pitchFamily="34" charset="-122"/>
                <a:cs typeface="Cambria" pitchFamily="34" charset="-120"/>
              </a:rPr>
              <a:t>101,766</a:t>
            </a:r>
            <a:endParaRPr lang="en-US" sz="3400" dirty="0"/>
          </a:p>
        </p:txBody>
      </p:sp>
      <p:sp>
        <p:nvSpPr>
          <p:cNvPr id="10" name="Text 7"/>
          <p:cNvSpPr txBox="1"/>
          <p:nvPr/>
        </p:nvSpPr>
        <p:spPr>
          <a:xfrm>
            <a:off x="5166360" y="2955798"/>
            <a:ext cx="3383280" cy="420624"/>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encounters from 71,518 patients</a:t>
            </a:r>
            <a:endParaRPr lang="en-US" sz="1200" dirty="0"/>
          </a:p>
        </p:txBody>
      </p:sp>
      <p:sp>
        <p:nvSpPr>
          <p:cNvPr id="11" name="Stat card"/>
          <p:cNvSpPr/>
          <p:nvPr/>
        </p:nvSpPr>
        <p:spPr>
          <a:xfrm>
            <a:off x="5029200" y="3566160"/>
            <a:ext cx="3657600" cy="1051560"/>
          </a:xfrm>
          <a:prstGeom prst="roundRect">
            <a:avLst>
              <a:gd name="adj" fmla="val 6957"/>
            </a:avLst>
          </a:prstGeom>
          <a:solidFill>
            <a:srgbClr val="E6F2F1"/>
          </a:solidFill>
          <a:ln w="6350">
            <a:solidFill>
              <a:srgbClr val="E6F2F1"/>
            </a:solidFill>
            <a:prstDash val="solid"/>
          </a:ln>
        </p:spPr>
      </p:sp>
      <p:sp>
        <p:nvSpPr>
          <p:cNvPr id="12" name="Text 9"/>
          <p:cNvSpPr txBox="1"/>
          <p:nvPr/>
        </p:nvSpPr>
        <p:spPr>
          <a:xfrm>
            <a:off x="5166360" y="3639312"/>
            <a:ext cx="3383280" cy="525780"/>
          </a:xfrm>
          <a:prstGeom prst="rect">
            <a:avLst/>
          </a:prstGeom>
          <a:noFill/>
          <a:ln/>
        </p:spPr>
        <p:txBody>
          <a:bodyPr wrap="square" lIns="0" tIns="0" rIns="0" bIns="0" rtlCol="0" anchor="ctr"/>
          <a:lstStyle/>
          <a:p>
            <a:pPr indent="0" marL="0">
              <a:buNone/>
            </a:pPr>
            <a:r>
              <a:rPr lang="en-US" sz="3000" b="1" dirty="0">
                <a:solidFill>
                  <a:srgbClr val="EA6A12"/>
                </a:solidFill>
                <a:latin typeface="Cambria" pitchFamily="34" charset="0"/>
                <a:ea typeface="Cambria" pitchFamily="34" charset="-122"/>
                <a:cs typeface="Cambria" pitchFamily="34" charset="-120"/>
              </a:rPr>
              <a:t>1999–2008</a:t>
            </a:r>
            <a:endParaRPr lang="en-US" sz="3000" dirty="0"/>
          </a:p>
        </p:txBody>
      </p:sp>
      <p:sp>
        <p:nvSpPr>
          <p:cNvPr id="13" name="Text 10"/>
          <p:cNvSpPr txBox="1"/>
          <p:nvPr/>
        </p:nvSpPr>
        <p:spPr>
          <a:xfrm>
            <a:off x="5166360" y="4144518"/>
            <a:ext cx="3383280" cy="420624"/>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UCI Diabetes 130-US Hospitals (public, de-identified)</a:t>
            </a:r>
            <a:endParaRPr lang="en-US" sz="12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0B3C49"/>
                </a:solidFill>
                <a:latin typeface="Cambria" pitchFamily="34" charset="0"/>
                <a:ea typeface="Cambria" pitchFamily="34" charset="-122"/>
                <a:cs typeface="Cambria" pitchFamily="34" charset="-120"/>
              </a:rPr>
              <a:t>The data, and what is missing</a:t>
            </a:r>
            <a:endParaRPr lang="en-US" sz="3000" dirty="0"/>
          </a:p>
        </p:txBody>
      </p:sp>
      <p:graphicFrame>
        <p:nvGraphicFramePr>
          <p:cNvPr id="4" name="Chart 0" descr=""/>
          <p:cNvGraphicFramePr/>
          <p:nvPr/>
        </p:nvGraphicFramePr>
        <p:xfrm>
          <a:off x="365760" y="1097280"/>
          <a:ext cx="5212080" cy="347472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457200" y="4572000"/>
            <a:ext cx="5029200" cy="201168"/>
          </a:xfrm>
          <a:prstGeom prst="rect">
            <a:avLst/>
          </a:prstGeom>
          <a:noFill/>
          <a:ln/>
        </p:spPr>
        <p:txBody>
          <a:bodyPr wrap="square" lIns="0" tIns="0" rIns="0" bIns="0" rtlCol="0" anchor="ctr"/>
          <a:lstStyle/>
          <a:p>
            <a:pPr indent="0" marL="0">
              <a:buNone/>
            </a:pPr>
            <a:r>
              <a:rPr lang="en-US" sz="1000" dirty="0">
                <a:solidFill>
                  <a:srgbClr val="5B6670"/>
                </a:solidFill>
                <a:latin typeface="Calibri" pitchFamily="34" charset="0"/>
                <a:ea typeface="Calibri" pitchFamily="34" charset="-122"/>
                <a:cs typeface="Calibri" pitchFamily="34" charset="-120"/>
              </a:rPr>
              <a:t>* test not performed (not a missing value)</a:t>
            </a:r>
            <a:endParaRPr lang="en-US" sz="1000" dirty="0"/>
          </a:p>
        </p:txBody>
      </p:sp>
      <p:sp>
        <p:nvSpPr>
          <p:cNvPr id="6" name="Stat card"/>
          <p:cNvSpPr/>
          <p:nvPr/>
        </p:nvSpPr>
        <p:spPr>
          <a:xfrm>
            <a:off x="5852160" y="1188720"/>
            <a:ext cx="2926080" cy="960120"/>
          </a:xfrm>
          <a:prstGeom prst="roundRect">
            <a:avLst>
              <a:gd name="adj" fmla="val 7619"/>
            </a:avLst>
          </a:prstGeom>
          <a:solidFill>
            <a:srgbClr val="E6F2F1"/>
          </a:solidFill>
          <a:ln w="6350">
            <a:solidFill>
              <a:srgbClr val="E6F2F1"/>
            </a:solidFill>
            <a:prstDash val="solid"/>
          </a:ln>
        </p:spPr>
      </p:sp>
      <p:sp>
        <p:nvSpPr>
          <p:cNvPr id="7" name="Text 3"/>
          <p:cNvSpPr txBox="1"/>
          <p:nvPr/>
        </p:nvSpPr>
        <p:spPr>
          <a:xfrm>
            <a:off x="5989320" y="1261872"/>
            <a:ext cx="2651760" cy="480060"/>
          </a:xfrm>
          <a:prstGeom prst="rect">
            <a:avLst/>
          </a:prstGeom>
          <a:noFill/>
          <a:ln/>
        </p:spPr>
        <p:txBody>
          <a:bodyPr wrap="square" lIns="0" tIns="0" rIns="0" bIns="0" rtlCol="0" anchor="ctr"/>
          <a:lstStyle/>
          <a:p>
            <a:pPr indent="0" marL="0">
              <a:buNone/>
            </a:pPr>
            <a:r>
              <a:rPr lang="en-US" sz="3000" b="1" dirty="0">
                <a:solidFill>
                  <a:srgbClr val="0F766E"/>
                </a:solidFill>
                <a:latin typeface="Cambria" pitchFamily="34" charset="0"/>
                <a:ea typeface="Cambria" pitchFamily="34" charset="-122"/>
                <a:cs typeface="Cambria" pitchFamily="34" charset="-120"/>
              </a:rPr>
              <a:t>96.9%</a:t>
            </a:r>
            <a:endParaRPr lang="en-US" sz="3000" dirty="0"/>
          </a:p>
        </p:txBody>
      </p:sp>
      <p:sp>
        <p:nvSpPr>
          <p:cNvPr id="8" name="Text 4"/>
          <p:cNvSpPr txBox="1"/>
          <p:nvPr/>
        </p:nvSpPr>
        <p:spPr>
          <a:xfrm>
            <a:off x="5989320" y="1716786"/>
            <a:ext cx="2651760" cy="384048"/>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weight missing: column excluded</a:t>
            </a:r>
            <a:endParaRPr lang="en-US" sz="1200" dirty="0"/>
          </a:p>
        </p:txBody>
      </p:sp>
      <p:sp>
        <p:nvSpPr>
          <p:cNvPr id="9" name="Stat card"/>
          <p:cNvSpPr/>
          <p:nvPr/>
        </p:nvSpPr>
        <p:spPr>
          <a:xfrm>
            <a:off x="5852160" y="2331720"/>
            <a:ext cx="2926080" cy="960120"/>
          </a:xfrm>
          <a:prstGeom prst="roundRect">
            <a:avLst>
              <a:gd name="adj" fmla="val 7619"/>
            </a:avLst>
          </a:prstGeom>
          <a:solidFill>
            <a:srgbClr val="E6F2F1"/>
          </a:solidFill>
          <a:ln w="6350">
            <a:solidFill>
              <a:srgbClr val="E6F2F1"/>
            </a:solidFill>
            <a:prstDash val="solid"/>
          </a:ln>
        </p:spPr>
      </p:sp>
      <p:sp>
        <p:nvSpPr>
          <p:cNvPr id="10" name="Text 6"/>
          <p:cNvSpPr txBox="1"/>
          <p:nvPr/>
        </p:nvSpPr>
        <p:spPr>
          <a:xfrm>
            <a:off x="5989320" y="2404872"/>
            <a:ext cx="2651760" cy="480060"/>
          </a:xfrm>
          <a:prstGeom prst="rect">
            <a:avLst/>
          </a:prstGeom>
          <a:noFill/>
          <a:ln/>
        </p:spPr>
        <p:txBody>
          <a:bodyPr wrap="square" lIns="0" tIns="0" rIns="0" bIns="0" rtlCol="0" anchor="ctr"/>
          <a:lstStyle/>
          <a:p>
            <a:pPr indent="0" marL="0">
              <a:buNone/>
            </a:pPr>
            <a:r>
              <a:rPr lang="en-US" sz="3000" b="1" dirty="0">
                <a:solidFill>
                  <a:srgbClr val="0B3C49"/>
                </a:solidFill>
                <a:latin typeface="Cambria" pitchFamily="34" charset="0"/>
                <a:ea typeface="Cambria" pitchFamily="34" charset="-122"/>
                <a:cs typeface="Cambria" pitchFamily="34" charset="-120"/>
              </a:rPr>
              <a:t>83.3%</a:t>
            </a:r>
            <a:endParaRPr lang="en-US" sz="3000" dirty="0"/>
          </a:p>
        </p:txBody>
      </p:sp>
      <p:sp>
        <p:nvSpPr>
          <p:cNvPr id="11" name="Text 7"/>
          <p:cNvSpPr txBox="1"/>
          <p:nvPr/>
        </p:nvSpPr>
        <p:spPr>
          <a:xfrm>
            <a:off x="5989320" y="2859786"/>
            <a:ext cx="2651760" cy="384048"/>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HbA1c never measured</a:t>
            </a:r>
            <a:endParaRPr lang="en-US" sz="1200" dirty="0"/>
          </a:p>
        </p:txBody>
      </p:sp>
      <p:sp>
        <p:nvSpPr>
          <p:cNvPr id="12" name="Stat card"/>
          <p:cNvSpPr/>
          <p:nvPr/>
        </p:nvSpPr>
        <p:spPr>
          <a:xfrm>
            <a:off x="5852160" y="3474720"/>
            <a:ext cx="2926080" cy="1051560"/>
          </a:xfrm>
          <a:prstGeom prst="roundRect">
            <a:avLst>
              <a:gd name="adj" fmla="val 6957"/>
            </a:avLst>
          </a:prstGeom>
          <a:solidFill>
            <a:srgbClr val="E6F2F1"/>
          </a:solidFill>
          <a:ln w="6350">
            <a:solidFill>
              <a:srgbClr val="E6F2F1"/>
            </a:solidFill>
            <a:prstDash val="solid"/>
          </a:ln>
        </p:spPr>
      </p:sp>
      <p:sp>
        <p:nvSpPr>
          <p:cNvPr id="13" name="Text 9"/>
          <p:cNvSpPr txBox="1"/>
          <p:nvPr/>
        </p:nvSpPr>
        <p:spPr>
          <a:xfrm>
            <a:off x="5989320" y="3547872"/>
            <a:ext cx="2651760" cy="525780"/>
          </a:xfrm>
          <a:prstGeom prst="rect">
            <a:avLst/>
          </a:prstGeom>
          <a:noFill/>
          <a:ln/>
        </p:spPr>
        <p:txBody>
          <a:bodyPr wrap="square" lIns="0" tIns="0" rIns="0" bIns="0" rtlCol="0" anchor="ctr"/>
          <a:lstStyle/>
          <a:p>
            <a:pPr indent="0" marL="0">
              <a:buNone/>
            </a:pPr>
            <a:r>
              <a:rPr lang="en-US" sz="3000" b="1" dirty="0">
                <a:solidFill>
                  <a:srgbClr val="EA6A12"/>
                </a:solidFill>
                <a:latin typeface="Cambria" pitchFamily="34" charset="0"/>
                <a:ea typeface="Cambria" pitchFamily="34" charset="-122"/>
                <a:cs typeface="Cambria" pitchFamily="34" charset="-120"/>
              </a:rPr>
              <a:t>16,773</a:t>
            </a:r>
            <a:endParaRPr lang="en-US" sz="3000" dirty="0"/>
          </a:p>
        </p:txBody>
      </p:sp>
      <p:sp>
        <p:nvSpPr>
          <p:cNvPr id="14" name="Text 10"/>
          <p:cNvSpPr txBox="1"/>
          <p:nvPr/>
        </p:nvSpPr>
        <p:spPr>
          <a:xfrm>
            <a:off x="5989320" y="4053078"/>
            <a:ext cx="2651760" cy="420624"/>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patients with repeat encounters: split by patient</a:t>
            </a:r>
            <a:endParaRPr lang="en-US" sz="12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0B3C49"/>
                </a:solidFill>
                <a:latin typeface="Cambria" pitchFamily="34" charset="0"/>
                <a:ea typeface="Cambria" pitchFamily="34" charset="-122"/>
                <a:cs typeface="Cambria" pitchFamily="34" charset="-120"/>
              </a:rPr>
              <a:t>How the platform is built</a:t>
            </a:r>
            <a:endParaRPr lang="en-US" sz="3000" dirty="0"/>
          </a:p>
        </p:txBody>
      </p:sp>
      <p:pic>
        <p:nvPicPr>
          <p:cNvPr id="4" name="Image 0" descr="Architecture: offline scripts produce artifacts that the read-only runtime serves">    </p:cNvPr>
          <p:cNvPicPr>
            <a:picLocks noChangeAspect="1"/>
          </p:cNvPicPr>
          <p:nvPr/>
        </p:nvPicPr>
        <p:blipFill>
          <a:blip r:embed="rId1"/>
          <a:stretch>
            <a:fillRect/>
          </a:stretch>
        </p:blipFill>
        <p:spPr>
          <a:xfrm>
            <a:off x="365760" y="1188720"/>
            <a:ext cx="5120640" cy="2774439"/>
          </a:xfrm>
          <a:prstGeom prst="rect">
            <a:avLst/>
          </a:prstGeom>
        </p:spPr>
      </p:pic>
      <p:sp>
        <p:nvSpPr>
          <p:cNvPr id="5" name="Shape 1"/>
          <p:cNvSpPr/>
          <p:nvPr/>
        </p:nvSpPr>
        <p:spPr>
          <a:xfrm>
            <a:off x="5760720" y="1234440"/>
            <a:ext cx="384048" cy="384048"/>
          </a:xfrm>
          <a:prstGeom prst="ellipse">
            <a:avLst/>
          </a:prstGeom>
          <a:solidFill>
            <a:srgbClr val="0F766E"/>
          </a:solidFill>
          <a:ln w="6350">
            <a:solidFill>
              <a:srgbClr val="0F766E"/>
            </a:solidFill>
            <a:prstDash val="solid"/>
          </a:ln>
        </p:spPr>
      </p:sp>
      <p:sp>
        <p:nvSpPr>
          <p:cNvPr id="6" name="Text 2"/>
          <p:cNvSpPr txBox="1"/>
          <p:nvPr/>
        </p:nvSpPr>
        <p:spPr>
          <a:xfrm>
            <a:off x="5760720" y="123444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7" name="Text 3"/>
          <p:cNvSpPr txBox="1"/>
          <p:nvPr/>
        </p:nvSpPr>
        <p:spPr>
          <a:xfrm>
            <a:off x="6263640" y="1188720"/>
            <a:ext cx="2560320" cy="77724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Exclude 2,423 death and hospice discharges</a:t>
            </a:r>
            <a:endParaRPr lang="en-US" sz="1300" dirty="0"/>
          </a:p>
          <a:p>
            <a:pPr indent="0" marL="0">
              <a:buNone/>
            </a:pPr>
            <a:r>
              <a:rPr lang="en-US" sz="1200" dirty="0">
                <a:solidFill>
                  <a:srgbClr val="5B6670"/>
                </a:solidFill>
                <a:latin typeface="Calibri" pitchFamily="34" charset="0"/>
                <a:ea typeface="Calibri" pitchFamily="34" charset="-122"/>
                <a:cs typeface="Calibri" pitchFamily="34" charset="-120"/>
              </a:rPr>
              <a:t>they cannot be readmitted</a:t>
            </a:r>
            <a:endParaRPr lang="en-US" sz="1300" dirty="0"/>
          </a:p>
        </p:txBody>
      </p:sp>
      <p:sp>
        <p:nvSpPr>
          <p:cNvPr id="8" name="Shape 4"/>
          <p:cNvSpPr/>
          <p:nvPr/>
        </p:nvSpPr>
        <p:spPr>
          <a:xfrm>
            <a:off x="5760720" y="2103120"/>
            <a:ext cx="384048" cy="384048"/>
          </a:xfrm>
          <a:prstGeom prst="ellipse">
            <a:avLst/>
          </a:prstGeom>
          <a:solidFill>
            <a:srgbClr val="0F766E"/>
          </a:solidFill>
          <a:ln w="6350">
            <a:solidFill>
              <a:srgbClr val="0F766E"/>
            </a:solidFill>
            <a:prstDash val="solid"/>
          </a:ln>
        </p:spPr>
      </p:sp>
      <p:sp>
        <p:nvSpPr>
          <p:cNvPr id="9" name="Text 5"/>
          <p:cNvSpPr txBox="1"/>
          <p:nvPr/>
        </p:nvSpPr>
        <p:spPr>
          <a:xfrm>
            <a:off x="5760720" y="210312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0" name="Text 6"/>
          <p:cNvSpPr txBox="1"/>
          <p:nvPr/>
        </p:nvSpPr>
        <p:spPr>
          <a:xfrm>
            <a:off x="6263640" y="2057400"/>
            <a:ext cx="2560320" cy="77724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Split 60/20/20 by patient</a:t>
            </a:r>
            <a:endParaRPr lang="en-US" sz="1300" dirty="0"/>
          </a:p>
          <a:p>
            <a:pPr indent="0" marL="0">
              <a:buNone/>
            </a:pPr>
            <a:r>
              <a:rPr lang="en-US" sz="1200" dirty="0">
                <a:solidFill>
                  <a:srgbClr val="5B6670"/>
                </a:solidFill>
                <a:latin typeface="Calibri" pitchFamily="34" charset="0"/>
                <a:ea typeface="Calibri" pitchFamily="34" charset="-122"/>
                <a:cs typeface="Calibri" pitchFamily="34" charset="-120"/>
              </a:rPr>
              <a:t>no patient in two sets</a:t>
            </a:r>
            <a:endParaRPr lang="en-US" sz="1300" dirty="0"/>
          </a:p>
        </p:txBody>
      </p:sp>
      <p:sp>
        <p:nvSpPr>
          <p:cNvPr id="11" name="Shape 7"/>
          <p:cNvSpPr/>
          <p:nvPr/>
        </p:nvSpPr>
        <p:spPr>
          <a:xfrm>
            <a:off x="5760720" y="2971800"/>
            <a:ext cx="384048" cy="384048"/>
          </a:xfrm>
          <a:prstGeom prst="ellipse">
            <a:avLst/>
          </a:prstGeom>
          <a:solidFill>
            <a:srgbClr val="0F766E"/>
          </a:solidFill>
          <a:ln w="6350">
            <a:solidFill>
              <a:srgbClr val="0F766E"/>
            </a:solidFill>
            <a:prstDash val="solid"/>
          </a:ln>
        </p:spPr>
      </p:sp>
      <p:sp>
        <p:nvSpPr>
          <p:cNvPr id="12" name="Text 8"/>
          <p:cNvSpPr txBox="1"/>
          <p:nvPr/>
        </p:nvSpPr>
        <p:spPr>
          <a:xfrm>
            <a:off x="5760720" y="297180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3" name="Text 9"/>
          <p:cNvSpPr txBox="1"/>
          <p:nvPr/>
        </p:nvSpPr>
        <p:spPr>
          <a:xfrm>
            <a:off x="6263640" y="2926080"/>
            <a:ext cx="2560320" cy="77724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Calibrated probabilities</a:t>
            </a:r>
            <a:endParaRPr lang="en-US" sz="1300" dirty="0"/>
          </a:p>
          <a:p>
            <a:pPr indent="0" marL="0">
              <a:buNone/>
            </a:pPr>
            <a:r>
              <a:rPr lang="en-US" sz="1200" dirty="0">
                <a:solidFill>
                  <a:srgbClr val="5B6670"/>
                </a:solidFill>
                <a:latin typeface="Calibri" pitchFamily="34" charset="0"/>
                <a:ea typeface="Calibri" pitchFamily="34" charset="-122"/>
                <a:cs typeface="Calibri" pitchFamily="34" charset="-120"/>
              </a:rPr>
              <a:t>thresholds chosen on validation data</a:t>
            </a:r>
            <a:endParaRPr lang="en-US" sz="1300" dirty="0"/>
          </a:p>
        </p:txBody>
      </p:sp>
      <p:sp>
        <p:nvSpPr>
          <p:cNvPr id="14" name="Shape 10"/>
          <p:cNvSpPr/>
          <p:nvPr/>
        </p:nvSpPr>
        <p:spPr>
          <a:xfrm>
            <a:off x="5760720" y="3840480"/>
            <a:ext cx="384048" cy="384048"/>
          </a:xfrm>
          <a:prstGeom prst="ellipse">
            <a:avLst/>
          </a:prstGeom>
          <a:solidFill>
            <a:srgbClr val="0F766E"/>
          </a:solidFill>
          <a:ln w="6350">
            <a:solidFill>
              <a:srgbClr val="0F766E"/>
            </a:solidFill>
            <a:prstDash val="solid"/>
          </a:ln>
        </p:spPr>
      </p:sp>
      <p:sp>
        <p:nvSpPr>
          <p:cNvPr id="15" name="Text 11"/>
          <p:cNvSpPr txBox="1"/>
          <p:nvPr/>
        </p:nvSpPr>
        <p:spPr>
          <a:xfrm>
            <a:off x="5760720" y="3840480"/>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16" name="Text 12"/>
          <p:cNvSpPr txBox="1"/>
          <p:nvPr/>
        </p:nvSpPr>
        <p:spPr>
          <a:xfrm>
            <a:off x="6263640" y="3794760"/>
            <a:ext cx="2560320" cy="777240"/>
          </a:xfrm>
          <a:prstGeom prst="rect">
            <a:avLst/>
          </a:prstGeom>
          <a:noFill/>
          <a:ln/>
        </p:spPr>
        <p:txBody>
          <a:bodyPr wrap="square" lIns="0" tIns="0" rIns="0" bIns="0" rtlCol="0" anchor="t"/>
          <a:lstStyle/>
          <a:p>
            <a:pPr indent="0" marL="0">
              <a:buNone/>
            </a:pPr>
            <a:r>
              <a:rPr lang="en-US" sz="1300" b="1" dirty="0">
                <a:solidFill>
                  <a:srgbClr val="1F2937"/>
                </a:solidFill>
                <a:latin typeface="Calibri" pitchFamily="34" charset="0"/>
                <a:ea typeface="Calibri" pitchFamily="34" charset="-122"/>
                <a:cs typeface="Calibri" pitchFamily="34" charset="-120"/>
              </a:rPr>
              <a:t>Test set scored once</a:t>
            </a:r>
            <a:endParaRPr lang="en-US" sz="1300" dirty="0"/>
          </a:p>
          <a:p>
            <a:pPr indent="0" marL="0">
              <a:buNone/>
            </a:pPr>
            <a:r>
              <a:rPr lang="en-US" sz="1200" dirty="0">
                <a:solidFill>
                  <a:srgbClr val="5B6670"/>
                </a:solidFill>
                <a:latin typeface="Calibri" pitchFamily="34" charset="0"/>
                <a:ea typeface="Calibri" pitchFamily="34" charset="-122"/>
                <a:cs typeface="Calibri" pitchFamily="34" charset="-120"/>
              </a:rPr>
              <a:t>bootstrap 95% intervals</a:t>
            </a:r>
            <a:endParaRPr lang="en-US" sz="13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0B3C49"/>
                </a:solidFill>
                <a:latin typeface="Cambria" pitchFamily="34" charset="0"/>
                <a:ea typeface="Cambria" pitchFamily="34" charset="-122"/>
                <a:cs typeface="Cambria" pitchFamily="34" charset="-120"/>
              </a:rPr>
              <a:t>The cutoff matters more than the model</a:t>
            </a:r>
            <a:endParaRPr lang="en-US" sz="3000" dirty="0"/>
          </a:p>
        </p:txBody>
      </p:sp>
      <p:sp>
        <p:nvSpPr>
          <p:cNvPr id="4" name="Stat card"/>
          <p:cNvSpPr/>
          <p:nvPr/>
        </p:nvSpPr>
        <p:spPr>
          <a:xfrm>
            <a:off x="457200" y="1188720"/>
            <a:ext cx="3108960" cy="1097280"/>
          </a:xfrm>
          <a:prstGeom prst="roundRect">
            <a:avLst>
              <a:gd name="adj" fmla="val 6667"/>
            </a:avLst>
          </a:prstGeom>
          <a:solidFill>
            <a:srgbClr val="E6F2F1"/>
          </a:solidFill>
          <a:ln w="6350">
            <a:solidFill>
              <a:srgbClr val="E6F2F1"/>
            </a:solidFill>
            <a:prstDash val="solid"/>
          </a:ln>
        </p:spPr>
      </p:sp>
      <p:sp>
        <p:nvSpPr>
          <p:cNvPr id="5" name="Text 2"/>
          <p:cNvSpPr txBox="1"/>
          <p:nvPr/>
        </p:nvSpPr>
        <p:spPr>
          <a:xfrm>
            <a:off x="594360" y="1261872"/>
            <a:ext cx="2834640" cy="548640"/>
          </a:xfrm>
          <a:prstGeom prst="rect">
            <a:avLst/>
          </a:prstGeom>
          <a:noFill/>
          <a:ln/>
        </p:spPr>
        <p:txBody>
          <a:bodyPr wrap="square" lIns="0" tIns="0" rIns="0" bIns="0" rtlCol="0" anchor="ctr"/>
          <a:lstStyle/>
          <a:p>
            <a:pPr indent="0" marL="0">
              <a:buNone/>
            </a:pPr>
            <a:r>
              <a:rPr lang="en-US" sz="4000" b="1" dirty="0">
                <a:solidFill>
                  <a:srgbClr val="0F766E"/>
                </a:solidFill>
                <a:latin typeface="Cambria" pitchFamily="34" charset="0"/>
                <a:ea typeface="Cambria" pitchFamily="34" charset="-122"/>
                <a:cs typeface="Cambria" pitchFamily="34" charset="-120"/>
              </a:rPr>
              <a:t>0.669</a:t>
            </a:r>
            <a:endParaRPr lang="en-US" sz="4000" dirty="0"/>
          </a:p>
        </p:txBody>
      </p:sp>
      <p:sp>
        <p:nvSpPr>
          <p:cNvPr id="6" name="Text 3"/>
          <p:cNvSpPr txBox="1"/>
          <p:nvPr/>
        </p:nvSpPr>
        <p:spPr>
          <a:xfrm>
            <a:off x="594360" y="1792224"/>
            <a:ext cx="2834640" cy="438912"/>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ROC-AUC, 95% CI 0.657–0.681</a:t>
            </a:r>
            <a:endParaRPr lang="en-US" sz="1200" dirty="0"/>
          </a:p>
        </p:txBody>
      </p:sp>
      <p:sp>
        <p:nvSpPr>
          <p:cNvPr id="7" name="Stat card"/>
          <p:cNvSpPr/>
          <p:nvPr/>
        </p:nvSpPr>
        <p:spPr>
          <a:xfrm>
            <a:off x="457200" y="2468880"/>
            <a:ext cx="3108960" cy="1097280"/>
          </a:xfrm>
          <a:prstGeom prst="roundRect">
            <a:avLst>
              <a:gd name="adj" fmla="val 6667"/>
            </a:avLst>
          </a:prstGeom>
          <a:solidFill>
            <a:srgbClr val="E6F2F1"/>
          </a:solidFill>
          <a:ln w="6350">
            <a:solidFill>
              <a:srgbClr val="E6F2F1"/>
            </a:solidFill>
            <a:prstDash val="solid"/>
          </a:ln>
        </p:spPr>
      </p:sp>
      <p:sp>
        <p:nvSpPr>
          <p:cNvPr id="8" name="Text 5"/>
          <p:cNvSpPr txBox="1"/>
          <p:nvPr/>
        </p:nvSpPr>
        <p:spPr>
          <a:xfrm>
            <a:off x="594360" y="2542032"/>
            <a:ext cx="2834640" cy="548640"/>
          </a:xfrm>
          <a:prstGeom prst="rect">
            <a:avLst/>
          </a:prstGeom>
          <a:noFill/>
          <a:ln/>
        </p:spPr>
        <p:txBody>
          <a:bodyPr wrap="square" lIns="0" tIns="0" rIns="0" bIns="0" rtlCol="0" anchor="ctr"/>
          <a:lstStyle/>
          <a:p>
            <a:pPr indent="0" marL="0">
              <a:buNone/>
            </a:pPr>
            <a:r>
              <a:rPr lang="en-US" sz="4000" b="1" dirty="0">
                <a:solidFill>
                  <a:srgbClr val="0B3C49"/>
                </a:solidFill>
                <a:latin typeface="Cambria" pitchFamily="34" charset="0"/>
                <a:ea typeface="Cambria" pitchFamily="34" charset="-122"/>
                <a:cs typeface="Cambria" pitchFamily="34" charset="-120"/>
              </a:rPr>
              <a:t>0.232</a:t>
            </a:r>
            <a:endParaRPr lang="en-US" sz="4000" dirty="0"/>
          </a:p>
        </p:txBody>
      </p:sp>
      <p:sp>
        <p:nvSpPr>
          <p:cNvPr id="9" name="Text 6"/>
          <p:cNvSpPr txBox="1"/>
          <p:nvPr/>
        </p:nvSpPr>
        <p:spPr>
          <a:xfrm>
            <a:off x="594360" y="3072384"/>
            <a:ext cx="2834640" cy="438912"/>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PR-AUC vs 0.112 for chance (2.1×)</a:t>
            </a:r>
            <a:endParaRPr lang="en-US" sz="1200" dirty="0"/>
          </a:p>
        </p:txBody>
      </p:sp>
      <p:sp>
        <p:nvSpPr>
          <p:cNvPr id="10" name="Text 7"/>
          <p:cNvSpPr txBox="1"/>
          <p:nvPr/>
        </p:nvSpPr>
        <p:spPr>
          <a:xfrm>
            <a:off x="457200" y="3749040"/>
            <a:ext cx="3291840" cy="822960"/>
          </a:xfrm>
          <a:prstGeom prst="rect">
            <a:avLst/>
          </a:prstGeom>
          <a:noFill/>
          <a:ln/>
        </p:spPr>
        <p:txBody>
          <a:bodyPr wrap="square" lIns="0" tIns="0" rIns="0" bIns="0" rtlCol="0" anchor="t"/>
          <a:lstStyle/>
          <a:p>
            <a:pPr indent="0" marL="0">
              <a:buNone/>
            </a:pPr>
            <a:r>
              <a:rPr lang="en-US" sz="1300" dirty="0">
                <a:solidFill>
                  <a:srgbClr val="1F2937"/>
                </a:solidFill>
                <a:latin typeface="Calibri" pitchFamily="34" charset="0"/>
                <a:ea typeface="Calibri" pitchFamily="34" charset="-122"/>
                <a:cs typeface="Calibri" pitchFamily="34" charset="-120"/>
              </a:rPr>
              <a:t>0.5 cutoff: 0.6% of readmissions caught.</a:t>
            </a:r>
            <a:endParaRPr lang="en-US" sz="1300" dirty="0"/>
          </a:p>
          <a:p>
            <a:pPr indent="0" marL="0">
              <a:buNone/>
            </a:pPr>
            <a:r>
              <a:rPr lang="en-US" sz="1300" dirty="0">
                <a:solidFill>
                  <a:srgbClr val="1F2937"/>
                </a:solidFill>
                <a:latin typeface="Calibri" pitchFamily="34" charset="0"/>
                <a:ea typeface="Calibri" pitchFamily="34" charset="-122"/>
                <a:cs typeface="Calibri" pitchFamily="34" charset="-120"/>
              </a:rPr>
              <a:t>Validation-chosen cutoff: 43.8%.</a:t>
            </a:r>
            <a:endParaRPr lang="en-US" sz="1300" dirty="0"/>
          </a:p>
        </p:txBody>
      </p:sp>
      <p:graphicFrame>
        <p:nvGraphicFramePr>
          <p:cNvPr id="11" name="Chart 0" descr=""/>
          <p:cNvGraphicFramePr/>
          <p:nvPr/>
        </p:nvGraphicFramePr>
        <p:xfrm>
          <a:off x="3931920" y="1097280"/>
          <a:ext cx="4937760" cy="3566160"/>
        </p:xfrm>
        <a:graphic xmlns:a="http://schemas.openxmlformats.org/drawingml/2006/main">
          <a:graphicData uri="http://schemas.openxmlformats.org/drawingml/2006/chart">
            <c:chart xmlns:c="http://schemas.openxmlformats.org/drawingml/2006/chart" r:id="rId1"/>
          </a:graphicData>
        </a:graphic>
      </p:graphicFrame>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0B3C49"/>
                </a:solidFill>
                <a:latin typeface="Cambria" pitchFamily="34" charset="0"/>
                <a:ea typeface="Cambria" pitchFamily="34" charset="-122"/>
                <a:cs typeface="Cambria" pitchFamily="34" charset="-120"/>
              </a:rPr>
              <a:t>What drives the predictions</a:t>
            </a:r>
            <a:endParaRPr lang="en-US" sz="3000" dirty="0"/>
          </a:p>
        </p:txBody>
      </p:sp>
      <p:graphicFrame>
        <p:nvGraphicFramePr>
          <p:cNvPr id="4" name="Chart 0" descr=""/>
          <p:cNvGraphicFramePr/>
          <p:nvPr/>
        </p:nvGraphicFramePr>
        <p:xfrm>
          <a:off x="365760" y="1097280"/>
          <a:ext cx="5577840" cy="3566160"/>
        </p:xfrm>
        <a:graphic xmlns:a="http://schemas.openxmlformats.org/drawingml/2006/main">
          <a:graphicData uri="http://schemas.openxmlformats.org/drawingml/2006/chart">
            <c:chart xmlns:c="http://schemas.openxmlformats.org/drawingml/2006/chart" r:id="rId1"/>
          </a:graphicData>
        </a:graphic>
      </p:graphicFrame>
      <p:sp>
        <p:nvSpPr>
          <p:cNvPr id="5" name="Text 1"/>
          <p:cNvSpPr txBox="1"/>
          <p:nvPr/>
        </p:nvSpPr>
        <p:spPr>
          <a:xfrm>
            <a:off x="6217920" y="1280160"/>
            <a:ext cx="2651760" cy="1700784"/>
          </a:xfrm>
          <a:prstGeom prst="rect">
            <a:avLst/>
          </a:prstGeom>
          <a:noFill/>
          <a:ln/>
        </p:spPr>
        <p:txBody>
          <a:bodyPr wrap="square" lIns="0" tIns="0" rIns="0" bIns="0" rtlCol="0" anchor="t"/>
          <a:lstStyle/>
          <a:p>
            <a:pPr marL="177800" indent="-177800">
              <a:spcAft>
                <a:spcPts val="1440"/>
              </a:spcAft>
              <a:buSzPct val="100000"/>
              <a:buChar char="•"/>
            </a:pPr>
            <a:r>
              <a:rPr lang="en-US" sz="1400" dirty="0">
                <a:solidFill>
                  <a:srgbClr val="1F2937"/>
                </a:solidFill>
                <a:latin typeface="Calibri" pitchFamily="34" charset="0"/>
                <a:ea typeface="Calibri" pitchFamily="34" charset="-122"/>
                <a:cs typeface="Calibri" pitchFamily="34" charset="-120"/>
              </a:rPr>
              <a:t>More prior admissions, longer stays and more diagnoses all raise risk</a:t>
            </a:r>
            <a:endParaRPr lang="en-US" sz="1400" dirty="0"/>
          </a:p>
          <a:p>
            <a:pPr marL="177800" indent="-177800">
              <a:spcAft>
                <a:spcPts val="1440"/>
              </a:spcAft>
              <a:buSzPct val="100000"/>
              <a:buChar char="•"/>
            </a:pPr>
            <a:r>
              <a:rPr lang="en-US" sz="1400" dirty="0">
                <a:solidFill>
                  <a:srgbClr val="1F2937"/>
                </a:solidFill>
                <a:latin typeface="Calibri" pitchFamily="34" charset="0"/>
                <a:ea typeface="Calibri" pitchFamily="34" charset="-122"/>
                <a:cs typeface="Calibri" pitchFamily="34" charset="-120"/>
              </a:rPr>
              <a:t>Discharge to rehabilitation raises risk the most; discharge home lowers it</a:t>
            </a:r>
            <a:endParaRPr lang="en-US" sz="1400" dirty="0"/>
          </a:p>
          <a:p>
            <a:pPr marL="177800" indent="-177800">
              <a:spcAft>
                <a:spcPts val="1440"/>
              </a:spcAft>
              <a:buSzPct val="100000"/>
              <a:buChar char="•"/>
            </a:pPr>
            <a:r>
              <a:rPr lang="en-US" sz="1400" dirty="0">
                <a:solidFill>
                  <a:srgbClr val="1F2937"/>
                </a:solidFill>
                <a:latin typeface="Calibri" pitchFamily="34" charset="0"/>
                <a:ea typeface="Calibri" pitchFamily="34" charset="-122"/>
                <a:cs typeface="Calibri" pitchFamily="34" charset="-120"/>
              </a:rPr>
              <a:t>Associations, not causes</a:t>
            </a:r>
            <a:endParaRPr lang="en-US" sz="14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0B3C49"/>
                </a:solidFill>
                <a:latin typeface="Cambria" pitchFamily="34" charset="0"/>
                <a:ea typeface="Cambria" pitchFamily="34" charset="-122"/>
                <a:cs typeface="Cambria" pitchFamily="34" charset="-120"/>
              </a:rPr>
              <a:t>Fairness: which gaps to trust</a:t>
            </a:r>
            <a:endParaRPr lang="en-US" sz="3000" dirty="0"/>
          </a:p>
        </p:txBody>
      </p:sp>
      <p:pic>
        <p:nvPicPr>
          <p:cNvPr id="4" name="Image 0" descr="Recall by subgroup with 95% intervals">    </p:cNvPr>
          <p:cNvPicPr>
            <a:picLocks noChangeAspect="1"/>
          </p:cNvPicPr>
          <p:nvPr/>
        </p:nvPicPr>
        <p:blipFill>
          <a:blip r:embed="rId1"/>
          <a:stretch>
            <a:fillRect/>
          </a:stretch>
        </p:blipFill>
        <p:spPr>
          <a:xfrm>
            <a:off x="320040" y="1097280"/>
            <a:ext cx="5257800" cy="3048579"/>
          </a:xfrm>
          <a:prstGeom prst="rect">
            <a:avLst/>
          </a:prstGeom>
        </p:spPr>
      </p:pic>
      <p:sp>
        <p:nvSpPr>
          <p:cNvPr id="5" name="Text 1"/>
          <p:cNvSpPr txBox="1"/>
          <p:nvPr/>
        </p:nvSpPr>
        <p:spPr>
          <a:xfrm>
            <a:off x="5806440" y="1234440"/>
            <a:ext cx="3017520" cy="1700784"/>
          </a:xfrm>
          <a:prstGeom prst="rect">
            <a:avLst/>
          </a:prstGeom>
          <a:noFill/>
          <a:ln/>
        </p:spPr>
        <p:txBody>
          <a:bodyPr wrap="square" lIns="0" tIns="0" rIns="0" bIns="0" rtlCol="0" anchor="t"/>
          <a:lstStyle/>
          <a:p>
            <a:pPr marL="177800" indent="-177800">
              <a:spcAft>
                <a:spcPts val="1152"/>
              </a:spcAft>
              <a:buSzPct val="100000"/>
              <a:buChar char="•"/>
            </a:pPr>
            <a:r>
              <a:rPr lang="en-US" sz="1300" dirty="0">
                <a:solidFill>
                  <a:srgbClr val="1F2937"/>
                </a:solidFill>
                <a:latin typeface="Calibri" pitchFamily="34" charset="0"/>
                <a:ea typeface="Calibri" pitchFamily="34" charset="-122"/>
                <a:cs typeface="Calibri" pitchFamily="34" charset="-120"/>
              </a:rPr>
              <a:t>Race recall gap 0.39: driven by 122 Asian encounters (10 readmissions); intervals overlap</a:t>
            </a:r>
            <a:endParaRPr lang="en-US" sz="1300" dirty="0"/>
          </a:p>
          <a:p>
            <a:pPr marL="177800" indent="-177800">
              <a:spcAft>
                <a:spcPts val="1152"/>
              </a:spcAft>
              <a:buSzPct val="100000"/>
              <a:buChar char="•"/>
            </a:pPr>
            <a:r>
              <a:rPr lang="en-US" sz="1300" dirty="0">
                <a:solidFill>
                  <a:srgbClr val="1F2937"/>
                </a:solidFill>
                <a:latin typeface="Calibri" pitchFamily="34" charset="0"/>
                <a:ea typeface="Calibri" pitchFamily="34" charset="-122"/>
                <a:cs typeface="Calibri" pitchFamily="34" charset="-120"/>
              </a:rPr>
              <a:t>Age: recall 0.58 under 40 vs 0.40 at 40–59; intervals do not overlap</a:t>
            </a:r>
            <a:endParaRPr lang="en-US" sz="1300" dirty="0"/>
          </a:p>
          <a:p>
            <a:pPr marL="177800" indent="-177800">
              <a:spcAft>
                <a:spcPts val="1152"/>
              </a:spcAft>
              <a:buSzPct val="100000"/>
              <a:buChar char="•"/>
            </a:pPr>
            <a:r>
              <a:rPr lang="en-US" sz="1300" dirty="0">
                <a:solidFill>
                  <a:srgbClr val="1F2937"/>
                </a:solidFill>
                <a:latin typeface="Calibri" pitchFamily="34" charset="0"/>
                <a:ea typeface="Calibri" pitchFamily="34" charset="-122"/>
                <a:cs typeface="Calibri" pitchFamily="34" charset="-120"/>
              </a:rPr>
              <a:t>Gender gap 0.03: within the 0.10 review threshold</a:t>
            </a:r>
            <a:endParaRPr lang="en-US" sz="13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0B3C49"/>
                </a:solidFill>
                <a:latin typeface="Cambria" pitchFamily="34" charset="0"/>
                <a:ea typeface="Cambria" pitchFamily="34" charset="-122"/>
                <a:cs typeface="Cambria" pitchFamily="34" charset="-120"/>
              </a:rPr>
              <a:t>HbA1c testing and readmission</a:t>
            </a:r>
            <a:endParaRPr lang="en-US" sz="3000" dirty="0"/>
          </a:p>
        </p:txBody>
      </p:sp>
      <p:pic>
        <p:nvPicPr>
          <p:cNvPr id="4" name="Image 0" descr="Readmission rate by HbA1c group and adjusted odds ratios">    </p:cNvPr>
          <p:cNvPicPr>
            <a:picLocks noChangeAspect="1"/>
          </p:cNvPicPr>
          <p:nvPr/>
        </p:nvPicPr>
        <p:blipFill>
          <a:blip r:embed="rId1"/>
          <a:stretch>
            <a:fillRect/>
          </a:stretch>
        </p:blipFill>
        <p:spPr>
          <a:xfrm>
            <a:off x="365760" y="1234440"/>
            <a:ext cx="5486400" cy="2549961"/>
          </a:xfrm>
          <a:prstGeom prst="rect">
            <a:avLst/>
          </a:prstGeom>
        </p:spPr>
      </p:pic>
      <p:sp>
        <p:nvSpPr>
          <p:cNvPr id="5" name="Text 1"/>
          <p:cNvSpPr txBox="1"/>
          <p:nvPr/>
        </p:nvSpPr>
        <p:spPr>
          <a:xfrm>
            <a:off x="457200" y="3875841"/>
            <a:ext cx="5303520" cy="548640"/>
          </a:xfrm>
          <a:prstGeom prst="rect">
            <a:avLst/>
          </a:prstGeom>
          <a:noFill/>
          <a:ln/>
        </p:spPr>
        <p:txBody>
          <a:bodyPr wrap="square" lIns="0" tIns="0" rIns="0" bIns="0" rtlCol="0" anchor="t"/>
          <a:lstStyle/>
          <a:p>
            <a:pPr indent="0" marL="0">
              <a:buNone/>
            </a:pPr>
            <a:r>
              <a:rPr lang="en-US" sz="1100" dirty="0">
                <a:solidFill>
                  <a:srgbClr val="5B6670"/>
                </a:solidFill>
                <a:latin typeface="Calibri" pitchFamily="34" charset="0"/>
                <a:ea typeface="Calibri" pitchFamily="34" charset="-122"/>
                <a:cs typeface="Calibri" pitchFamily="34" charset="-120"/>
              </a:rPr>
              <a:t>n = 69,987 patients, one encounter each; adjusted for age, race, gender, admission source, discharge, stay and diagnosis.</a:t>
            </a:r>
            <a:endParaRPr lang="en-US" sz="1100" dirty="0"/>
          </a:p>
        </p:txBody>
      </p:sp>
      <p:sp>
        <p:nvSpPr>
          <p:cNvPr id="6" name="Stat card"/>
          <p:cNvSpPr/>
          <p:nvPr/>
        </p:nvSpPr>
        <p:spPr>
          <a:xfrm>
            <a:off x="6126480" y="1188720"/>
            <a:ext cx="2743200" cy="1143000"/>
          </a:xfrm>
          <a:prstGeom prst="roundRect">
            <a:avLst>
              <a:gd name="adj" fmla="val 6400"/>
            </a:avLst>
          </a:prstGeom>
          <a:solidFill>
            <a:srgbClr val="E6F2F1"/>
          </a:solidFill>
          <a:ln w="6350">
            <a:solidFill>
              <a:srgbClr val="E6F2F1"/>
            </a:solidFill>
            <a:prstDash val="solid"/>
          </a:ln>
        </p:spPr>
      </p:sp>
      <p:sp>
        <p:nvSpPr>
          <p:cNvPr id="7" name="Text 3"/>
          <p:cNvSpPr txBox="1"/>
          <p:nvPr/>
        </p:nvSpPr>
        <p:spPr>
          <a:xfrm>
            <a:off x="6263640" y="1261872"/>
            <a:ext cx="2468880" cy="571500"/>
          </a:xfrm>
          <a:prstGeom prst="rect">
            <a:avLst/>
          </a:prstGeom>
          <a:noFill/>
          <a:ln/>
        </p:spPr>
        <p:txBody>
          <a:bodyPr wrap="square" lIns="0" tIns="0" rIns="0" bIns="0" rtlCol="0" anchor="ctr"/>
          <a:lstStyle/>
          <a:p>
            <a:pPr indent="0" marL="0">
              <a:buNone/>
            </a:pPr>
            <a:r>
              <a:rPr lang="en-US" sz="2200" b="1" dirty="0">
                <a:solidFill>
                  <a:srgbClr val="0F766E"/>
                </a:solidFill>
                <a:latin typeface="Cambria" pitchFamily="34" charset="0"/>
                <a:ea typeface="Cambria" pitchFamily="34" charset="-122"/>
                <a:cs typeface="Cambria" pitchFamily="34" charset="-120"/>
              </a:rPr>
              <a:t>9.1% → 7.4%</a:t>
            </a:r>
            <a:endParaRPr lang="en-US" sz="2200" dirty="0"/>
          </a:p>
        </p:txBody>
      </p:sp>
      <p:sp>
        <p:nvSpPr>
          <p:cNvPr id="8" name="Text 4"/>
          <p:cNvSpPr txBox="1"/>
          <p:nvPr/>
        </p:nvSpPr>
        <p:spPr>
          <a:xfrm>
            <a:off x="6263640" y="1817370"/>
            <a:ext cx="2468880" cy="457200"/>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unadjusted rate, not measured vs high without change</a:t>
            </a:r>
            <a:endParaRPr lang="en-US" sz="1200" dirty="0"/>
          </a:p>
        </p:txBody>
      </p:sp>
      <p:sp>
        <p:nvSpPr>
          <p:cNvPr id="9" name="Stat card"/>
          <p:cNvSpPr/>
          <p:nvPr/>
        </p:nvSpPr>
        <p:spPr>
          <a:xfrm>
            <a:off x="6126480" y="2468880"/>
            <a:ext cx="2743200" cy="1005840"/>
          </a:xfrm>
          <a:prstGeom prst="roundRect">
            <a:avLst>
              <a:gd name="adj" fmla="val 7273"/>
            </a:avLst>
          </a:prstGeom>
          <a:solidFill>
            <a:srgbClr val="E6F2F1"/>
          </a:solidFill>
          <a:ln w="6350">
            <a:solidFill>
              <a:srgbClr val="E6F2F1"/>
            </a:solidFill>
            <a:prstDash val="solid"/>
          </a:ln>
        </p:spPr>
      </p:sp>
      <p:sp>
        <p:nvSpPr>
          <p:cNvPr id="10" name="Text 6"/>
          <p:cNvSpPr txBox="1"/>
          <p:nvPr/>
        </p:nvSpPr>
        <p:spPr>
          <a:xfrm>
            <a:off x="6263640" y="2542032"/>
            <a:ext cx="2468880" cy="502920"/>
          </a:xfrm>
          <a:prstGeom prst="rect">
            <a:avLst/>
          </a:prstGeom>
          <a:noFill/>
          <a:ln/>
        </p:spPr>
        <p:txBody>
          <a:bodyPr wrap="square" lIns="0" tIns="0" rIns="0" bIns="0" rtlCol="0" anchor="ctr"/>
          <a:lstStyle/>
          <a:p>
            <a:pPr indent="0" marL="0">
              <a:buNone/>
            </a:pPr>
            <a:r>
              <a:rPr lang="en-US" sz="2000" b="1" dirty="0">
                <a:solidFill>
                  <a:srgbClr val="0B3C49"/>
                </a:solidFill>
                <a:latin typeface="Cambria" pitchFamily="34" charset="0"/>
                <a:ea typeface="Cambria" pitchFamily="34" charset="-122"/>
                <a:cs typeface="Cambria" pitchFamily="34" charset="-120"/>
              </a:rPr>
              <a:t>None significant</a:t>
            </a:r>
            <a:endParaRPr lang="en-US" sz="2000" dirty="0"/>
          </a:p>
        </p:txBody>
      </p:sp>
      <p:sp>
        <p:nvSpPr>
          <p:cNvPr id="11" name="Text 7"/>
          <p:cNvSpPr txBox="1"/>
          <p:nvPr/>
        </p:nvSpPr>
        <p:spPr>
          <a:xfrm>
            <a:off x="6263640" y="3022092"/>
            <a:ext cx="2468880" cy="402336"/>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adjusted ORs 0.87–0.95, all p &gt; 0.05</a:t>
            </a:r>
            <a:endParaRPr lang="en-US" sz="1200" dirty="0"/>
          </a:p>
        </p:txBody>
      </p:sp>
      <p:sp>
        <p:nvSpPr>
          <p:cNvPr id="12" name="Stat card"/>
          <p:cNvSpPr/>
          <p:nvPr/>
        </p:nvSpPr>
        <p:spPr>
          <a:xfrm>
            <a:off x="6126480" y="3611880"/>
            <a:ext cx="2743200" cy="1005840"/>
          </a:xfrm>
          <a:prstGeom prst="roundRect">
            <a:avLst>
              <a:gd name="adj" fmla="val 7273"/>
            </a:avLst>
          </a:prstGeom>
          <a:solidFill>
            <a:srgbClr val="E6F2F1"/>
          </a:solidFill>
          <a:ln w="6350">
            <a:solidFill>
              <a:srgbClr val="E6F2F1"/>
            </a:solidFill>
            <a:prstDash val="solid"/>
          </a:ln>
        </p:spPr>
      </p:sp>
      <p:sp>
        <p:nvSpPr>
          <p:cNvPr id="13" name="Text 9"/>
          <p:cNvSpPr txBox="1"/>
          <p:nvPr/>
        </p:nvSpPr>
        <p:spPr>
          <a:xfrm>
            <a:off x="6263640" y="3685032"/>
            <a:ext cx="2468880" cy="502920"/>
          </a:xfrm>
          <a:prstGeom prst="rect">
            <a:avLst/>
          </a:prstGeom>
          <a:noFill/>
          <a:ln/>
        </p:spPr>
        <p:txBody>
          <a:bodyPr wrap="square" lIns="0" tIns="0" rIns="0" bIns="0" rtlCol="0" anchor="ctr"/>
          <a:lstStyle/>
          <a:p>
            <a:pPr indent="0" marL="0">
              <a:buNone/>
            </a:pPr>
            <a:r>
              <a:rPr lang="en-US" sz="2400" b="1" dirty="0">
                <a:solidFill>
                  <a:srgbClr val="EA6A12"/>
                </a:solidFill>
                <a:latin typeface="Cambria" pitchFamily="34" charset="0"/>
                <a:ea typeface="Cambria" pitchFamily="34" charset="-122"/>
                <a:cs typeface="Cambria" pitchFamily="34" charset="-120"/>
              </a:rPr>
              <a:t>p = 0.007</a:t>
            </a:r>
            <a:endParaRPr lang="en-US" sz="2400" dirty="0"/>
          </a:p>
        </p:txBody>
      </p:sp>
      <p:sp>
        <p:nvSpPr>
          <p:cNvPr id="14" name="Text 10"/>
          <p:cNvSpPr txBox="1"/>
          <p:nvPr/>
        </p:nvSpPr>
        <p:spPr>
          <a:xfrm>
            <a:off x="6263640" y="4165092"/>
            <a:ext cx="2468880" cy="402336"/>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effect depends on primary diagnosis</a:t>
            </a:r>
            <a:endParaRPr lang="en-US" sz="12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0B3C49"/>
                </a:solidFill>
                <a:latin typeface="Cambria" pitchFamily="34" charset="0"/>
                <a:ea typeface="Cambria" pitchFamily="34" charset="-122"/>
                <a:cs typeface="Cambria" pitchFamily="34" charset="-120"/>
              </a:rPr>
              <a:t>An assistant that cannot invent numbers</a:t>
            </a:r>
            <a:endParaRPr lang="en-US" sz="3000" dirty="0"/>
          </a:p>
        </p:txBody>
      </p:sp>
      <p:pic>
        <p:nvPicPr>
          <p:cNvPr id="4" name="Image 0" descr="Assistant pipeline: planner, SQL guard, read-only run, grounded answer, output checks">    </p:cNvPr>
          <p:cNvPicPr>
            <a:picLocks noChangeAspect="1"/>
          </p:cNvPicPr>
          <p:nvPr/>
        </p:nvPicPr>
        <p:blipFill>
          <a:blip r:embed="rId1"/>
          <a:stretch>
            <a:fillRect/>
          </a:stretch>
        </p:blipFill>
        <p:spPr>
          <a:xfrm>
            <a:off x="365760" y="1188720"/>
            <a:ext cx="5212080" cy="2516493"/>
          </a:xfrm>
          <a:prstGeom prst="rect">
            <a:avLst/>
          </a:prstGeom>
        </p:spPr>
      </p:pic>
      <p:sp>
        <p:nvSpPr>
          <p:cNvPr id="5" name="Text 1"/>
          <p:cNvSpPr txBox="1"/>
          <p:nvPr/>
        </p:nvSpPr>
        <p:spPr>
          <a:xfrm>
            <a:off x="457200" y="3888093"/>
            <a:ext cx="5120640" cy="1133856"/>
          </a:xfrm>
          <a:prstGeom prst="rect">
            <a:avLst/>
          </a:prstGeom>
          <a:noFill/>
          <a:ln/>
        </p:spPr>
        <p:txBody>
          <a:bodyPr wrap="square" lIns="0" tIns="0" rIns="0" bIns="0" rtlCol="0" anchor="t"/>
          <a:lstStyle/>
          <a:p>
            <a:pPr marL="177800" indent="-177800">
              <a:spcAft>
                <a:spcPts val="864"/>
              </a:spcAft>
              <a:buSzPct val="100000"/>
              <a:buChar char="•"/>
            </a:pPr>
            <a:r>
              <a:rPr lang="en-US" sz="1300" dirty="0">
                <a:solidFill>
                  <a:srgbClr val="1F2937"/>
                </a:solidFill>
                <a:latin typeface="Calibri" pitchFamily="34" charset="0"/>
                <a:ea typeface="Calibri" pitchFamily="34" charset="-122"/>
                <a:cs typeface="Calibri" pitchFamily="34" charset="-120"/>
              </a:rPr>
              <a:t>One SELECT, one table, allow-listed functions, read-only, time-limited</a:t>
            </a:r>
            <a:endParaRPr lang="en-US" sz="1300" dirty="0"/>
          </a:p>
          <a:p>
            <a:pPr marL="177800" indent="-177800">
              <a:spcAft>
                <a:spcPts val="864"/>
              </a:spcAft>
              <a:buSzPct val="100000"/>
              <a:buChar char="•"/>
            </a:pPr>
            <a:r>
              <a:rPr lang="en-US" sz="1300" dirty="0">
                <a:solidFill>
                  <a:srgbClr val="1F2937"/>
                </a:solidFill>
                <a:latin typeface="Calibri" pitchFamily="34" charset="0"/>
                <a:ea typeface="Calibri" pitchFamily="34" charset="-122"/>
                <a:cs typeface="Calibri" pitchFamily="34" charset="-120"/>
              </a:rPr>
              <a:t>Every number in an explanation must cite a result cell</a:t>
            </a:r>
            <a:endParaRPr lang="en-US" sz="1300" dirty="0"/>
          </a:p>
        </p:txBody>
      </p:sp>
      <p:sp>
        <p:nvSpPr>
          <p:cNvPr id="6" name="Stat card"/>
          <p:cNvSpPr/>
          <p:nvPr/>
        </p:nvSpPr>
        <p:spPr>
          <a:xfrm>
            <a:off x="5852160" y="1188720"/>
            <a:ext cx="3017520" cy="1097280"/>
          </a:xfrm>
          <a:prstGeom prst="roundRect">
            <a:avLst>
              <a:gd name="adj" fmla="val 6667"/>
            </a:avLst>
          </a:prstGeom>
          <a:solidFill>
            <a:srgbClr val="E6F2F1"/>
          </a:solidFill>
          <a:ln w="6350">
            <a:solidFill>
              <a:srgbClr val="E6F2F1"/>
            </a:solidFill>
            <a:prstDash val="solid"/>
          </a:ln>
        </p:spPr>
      </p:sp>
      <p:sp>
        <p:nvSpPr>
          <p:cNvPr id="7" name="Text 3"/>
          <p:cNvSpPr txBox="1"/>
          <p:nvPr/>
        </p:nvSpPr>
        <p:spPr>
          <a:xfrm>
            <a:off x="5989320" y="1261872"/>
            <a:ext cx="2743200" cy="548640"/>
          </a:xfrm>
          <a:prstGeom prst="rect">
            <a:avLst/>
          </a:prstGeom>
          <a:noFill/>
          <a:ln/>
        </p:spPr>
        <p:txBody>
          <a:bodyPr wrap="square" lIns="0" tIns="0" rIns="0" bIns="0" rtlCol="0" anchor="ctr"/>
          <a:lstStyle/>
          <a:p>
            <a:pPr indent="0" marL="0">
              <a:buNone/>
            </a:pPr>
            <a:r>
              <a:rPr lang="en-US" sz="3600" b="1" dirty="0">
                <a:solidFill>
                  <a:srgbClr val="0F766E"/>
                </a:solidFill>
                <a:latin typeface="Cambria" pitchFamily="34" charset="0"/>
                <a:ea typeface="Cambria" pitchFamily="34" charset="-122"/>
                <a:cs typeface="Cambria" pitchFamily="34" charset="-120"/>
              </a:rPr>
              <a:t>12 / 12</a:t>
            </a:r>
            <a:endParaRPr lang="en-US" sz="3600" dirty="0"/>
          </a:p>
        </p:txBody>
      </p:sp>
      <p:sp>
        <p:nvSpPr>
          <p:cNvPr id="8" name="Text 4"/>
          <p:cNvSpPr txBox="1"/>
          <p:nvPr/>
        </p:nvSpPr>
        <p:spPr>
          <a:xfrm>
            <a:off x="5989320" y="1792224"/>
            <a:ext cx="2743200" cy="438912"/>
          </a:xfrm>
          <a:prstGeom prst="rect">
            <a:avLst/>
          </a:prstGeom>
          <a:noFill/>
          <a:ln/>
        </p:spPr>
        <p:txBody>
          <a:bodyPr wrap="square" lIns="0" tIns="0" rIns="0" bIns="0" rtlCol="0" anchor="t"/>
          <a:lstStyle/>
          <a:p>
            <a:pPr indent="0" marL="0">
              <a:buNone/>
            </a:pPr>
            <a:r>
              <a:rPr lang="en-US" sz="1200" dirty="0">
                <a:solidFill>
                  <a:srgbClr val="1F2937"/>
                </a:solidFill>
                <a:latin typeface="Calibri" pitchFamily="34" charset="0"/>
                <a:ea typeface="Calibri" pitchFamily="34" charset="-122"/>
                <a:cs typeface="Calibri" pitchFamily="34" charset="-120"/>
              </a:rPr>
              <a:t>curated questions correct, live (local Qwen 2.5 14B)</a:t>
            </a:r>
            <a:endParaRPr lang="en-US" sz="1200" dirty="0"/>
          </a:p>
        </p:txBody>
      </p:sp>
      <p:sp>
        <p:nvSpPr>
          <p:cNvPr id="9" name="Text 5"/>
          <p:cNvSpPr txBox="1"/>
          <p:nvPr/>
        </p:nvSpPr>
        <p:spPr>
          <a:xfrm>
            <a:off x="5852160" y="2514600"/>
            <a:ext cx="3017520" cy="274320"/>
          </a:xfrm>
          <a:prstGeom prst="rect">
            <a:avLst/>
          </a:prstGeom>
          <a:noFill/>
          <a:ln/>
        </p:spPr>
        <p:txBody>
          <a:bodyPr wrap="square" lIns="0" tIns="0" rIns="0" bIns="0" rtlCol="0" anchor="ctr"/>
          <a:lstStyle/>
          <a:p>
            <a:pPr indent="0" marL="0">
              <a:buNone/>
            </a:pPr>
            <a:r>
              <a:rPr lang="en-US" sz="1300" b="1" dirty="0">
                <a:solidFill>
                  <a:srgbClr val="0B3C49"/>
                </a:solidFill>
                <a:latin typeface="Calibri" pitchFamily="34" charset="0"/>
                <a:ea typeface="Calibri" pitchFamily="34" charset="-122"/>
                <a:cs typeface="Calibri" pitchFamily="34" charset="-120"/>
              </a:rPr>
              <a:t>Found by live testing, now fixed:</a:t>
            </a:r>
            <a:endParaRPr lang="en-US" sz="1300" dirty="0"/>
          </a:p>
        </p:txBody>
      </p:sp>
      <p:sp>
        <p:nvSpPr>
          <p:cNvPr id="10" name="Text 6"/>
          <p:cNvSpPr txBox="1"/>
          <p:nvPr/>
        </p:nvSpPr>
        <p:spPr>
          <a:xfrm>
            <a:off x="5852160" y="2834640"/>
            <a:ext cx="3017520" cy="1700784"/>
          </a:xfrm>
          <a:prstGeom prst="rect">
            <a:avLst/>
          </a:prstGeom>
          <a:noFill/>
          <a:ln/>
        </p:spPr>
        <p:txBody>
          <a:bodyPr wrap="square" lIns="0" tIns="0" rIns="0" bIns="0" rtlCol="0" anchor="t"/>
          <a:lstStyle/>
          <a:p>
            <a:pPr marL="177800" indent="-177800">
              <a:spcAft>
                <a:spcPts val="576"/>
              </a:spcAft>
              <a:buSzPct val="100000"/>
              <a:buChar char="•"/>
            </a:pPr>
            <a:r>
              <a:rPr lang="en-US" sz="1200" dirty="0">
                <a:solidFill>
                  <a:srgbClr val="1F2937"/>
                </a:solidFill>
                <a:latin typeface="Calibri" pitchFamily="34" charset="0"/>
                <a:ea typeface="Calibri" pitchFamily="34" charset="-122"/>
                <a:cs typeface="Calibri" pitchFamily="34" charset="-120"/>
              </a:rPr>
              <a:t>Unsupported SQL: one repair attempt</a:t>
            </a:r>
            <a:endParaRPr lang="en-US" sz="1200" dirty="0"/>
          </a:p>
          <a:p>
            <a:pPr marL="177800" indent="-177800">
              <a:spcAft>
                <a:spcPts val="576"/>
              </a:spcAft>
              <a:buSzPct val="100000"/>
              <a:buChar char="•"/>
            </a:pPr>
            <a:r>
              <a:rPr lang="en-US" sz="1200" dirty="0">
                <a:solidFill>
                  <a:srgbClr val="1F2937"/>
                </a:solidFill>
                <a:latin typeface="Calibri" pitchFamily="34" charset="0"/>
                <a:ea typeface="Calibri" pitchFamily="34" charset="-122"/>
                <a:cs typeface="Calibri" pitchFamily="34" charset="-120"/>
              </a:rPr>
              <a:t>Over-strict rounding check</a:t>
            </a:r>
            <a:endParaRPr lang="en-US" sz="1200" dirty="0"/>
          </a:p>
          <a:p>
            <a:pPr marL="177800" indent="-177800">
              <a:spcAft>
                <a:spcPts val="576"/>
              </a:spcAft>
              <a:buSzPct val="100000"/>
              <a:buChar char="•"/>
            </a:pPr>
            <a:r>
              <a:rPr lang="en-US" sz="1200" dirty="0">
                <a:solidFill>
                  <a:srgbClr val="1F2937"/>
                </a:solidFill>
                <a:latin typeface="Calibri" pitchFamily="34" charset="0"/>
                <a:ea typeface="Calibri" pitchFamily="34" charset="-122"/>
                <a:cs typeface="Calibri" pitchFamily="34" charset="-120"/>
              </a:rPr>
              <a:t>A prompt change that returned one row</a:t>
            </a:r>
            <a:endParaRPr lang="en-US" sz="12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itle"/>
          <p:cNvSpPr txBox="1"/>
          <p:nvPr/>
        </p:nvSpPr>
        <p:spPr>
          <a:xfrm>
            <a:off x="640080" y="457200"/>
            <a:ext cx="7863840" cy="82296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Live demo</a:t>
            </a:r>
            <a:endParaRPr lang="en-US" sz="4000" dirty="0"/>
          </a:p>
        </p:txBody>
      </p:sp>
      <p:sp>
        <p:nvSpPr>
          <p:cNvPr id="4" name="Shape 1"/>
          <p:cNvSpPr/>
          <p:nvPr/>
        </p:nvSpPr>
        <p:spPr>
          <a:xfrm>
            <a:off x="640080" y="1417320"/>
            <a:ext cx="457200" cy="457200"/>
          </a:xfrm>
          <a:prstGeom prst="ellipse">
            <a:avLst/>
          </a:prstGeom>
          <a:solidFill>
            <a:srgbClr val="EA6A12"/>
          </a:solidFill>
          <a:ln w="6350">
            <a:solidFill>
              <a:srgbClr val="EA6A12"/>
            </a:solidFill>
            <a:prstDash val="solid"/>
          </a:ln>
        </p:spPr>
      </p:sp>
      <p:sp>
        <p:nvSpPr>
          <p:cNvPr id="5" name="Text 2"/>
          <p:cNvSpPr txBox="1"/>
          <p:nvPr/>
        </p:nvSpPr>
        <p:spPr>
          <a:xfrm>
            <a:off x="640080" y="14173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6" name="Text 3"/>
          <p:cNvSpPr txBox="1"/>
          <p:nvPr/>
        </p:nvSpPr>
        <p:spPr>
          <a:xfrm>
            <a:off x="1325880" y="1417320"/>
            <a:ext cx="731520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Data Quality</a:t>
            </a:r>
            <a:pPr indent="0" marL="0">
              <a:buNone/>
            </a:pPr>
            <a:r>
              <a:rPr lang="en-US" sz="1500" dirty="0">
                <a:solidFill>
                  <a:srgbClr val="CADCFC"/>
                </a:solidFill>
                <a:latin typeface="Calibri" pitchFamily="34" charset="0"/>
                <a:ea typeface="Calibri" pitchFamily="34" charset="-122"/>
                <a:cs typeface="Calibri" pitchFamily="34" charset="-120"/>
              </a:rPr>
              <a:t>   what is missing, definitions, lineage</a:t>
            </a:r>
            <a:endParaRPr lang="en-US" sz="2000" dirty="0"/>
          </a:p>
        </p:txBody>
      </p:sp>
      <p:sp>
        <p:nvSpPr>
          <p:cNvPr id="7" name="Shape 4"/>
          <p:cNvSpPr/>
          <p:nvPr/>
        </p:nvSpPr>
        <p:spPr>
          <a:xfrm>
            <a:off x="640080" y="2130552"/>
            <a:ext cx="457200" cy="457200"/>
          </a:xfrm>
          <a:prstGeom prst="ellipse">
            <a:avLst/>
          </a:prstGeom>
          <a:solidFill>
            <a:srgbClr val="EA6A12"/>
          </a:solidFill>
          <a:ln w="6350">
            <a:solidFill>
              <a:srgbClr val="EA6A12"/>
            </a:solidFill>
            <a:prstDash val="solid"/>
          </a:ln>
        </p:spPr>
      </p:sp>
      <p:sp>
        <p:nvSpPr>
          <p:cNvPr id="8" name="Text 5"/>
          <p:cNvSpPr txBox="1"/>
          <p:nvPr/>
        </p:nvSpPr>
        <p:spPr>
          <a:xfrm>
            <a:off x="640080" y="2130552"/>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9" name="Text 6"/>
          <p:cNvSpPr txBox="1"/>
          <p:nvPr/>
        </p:nvSpPr>
        <p:spPr>
          <a:xfrm>
            <a:off x="1325880" y="2130552"/>
            <a:ext cx="731520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Research</a:t>
            </a:r>
            <a:pPr indent="0" marL="0">
              <a:buNone/>
            </a:pPr>
            <a:r>
              <a:rPr lang="en-US" sz="1500" dirty="0">
                <a:solidFill>
                  <a:srgbClr val="CADCFC"/>
                </a:solidFill>
                <a:latin typeface="Calibri" pitchFamily="34" charset="0"/>
                <a:ea typeface="Calibri" pitchFamily="34" charset="-122"/>
                <a:cs typeface="Calibri" pitchFamily="34" charset="-120"/>
              </a:rPr>
              <a:t>   HbA1c study and cohort comparison</a:t>
            </a:r>
            <a:endParaRPr lang="en-US" sz="2000" dirty="0"/>
          </a:p>
        </p:txBody>
      </p:sp>
      <p:sp>
        <p:nvSpPr>
          <p:cNvPr id="10" name="Shape 7"/>
          <p:cNvSpPr/>
          <p:nvPr/>
        </p:nvSpPr>
        <p:spPr>
          <a:xfrm>
            <a:off x="640080" y="2843784"/>
            <a:ext cx="457200" cy="457200"/>
          </a:xfrm>
          <a:prstGeom prst="ellipse">
            <a:avLst/>
          </a:prstGeom>
          <a:solidFill>
            <a:srgbClr val="EA6A12"/>
          </a:solidFill>
          <a:ln w="6350">
            <a:solidFill>
              <a:srgbClr val="EA6A12"/>
            </a:solidFill>
            <a:prstDash val="solid"/>
          </a:ln>
        </p:spPr>
      </p:sp>
      <p:sp>
        <p:nvSpPr>
          <p:cNvPr id="11" name="Text 8"/>
          <p:cNvSpPr txBox="1"/>
          <p:nvPr/>
        </p:nvSpPr>
        <p:spPr>
          <a:xfrm>
            <a:off x="640080" y="2843784"/>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2" name="Text 9"/>
          <p:cNvSpPr txBox="1"/>
          <p:nvPr/>
        </p:nvSpPr>
        <p:spPr>
          <a:xfrm>
            <a:off x="1325880" y="2843784"/>
            <a:ext cx="731520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Predictive</a:t>
            </a:r>
            <a:pPr indent="0" marL="0">
              <a:buNone/>
            </a:pPr>
            <a:r>
              <a:rPr lang="en-US" sz="1500" dirty="0">
                <a:solidFill>
                  <a:srgbClr val="CADCFC"/>
                </a:solidFill>
                <a:latin typeface="Calibri" pitchFamily="34" charset="0"/>
                <a:ea typeface="Calibri" pitchFamily="34" charset="-122"/>
                <a:cs typeface="Calibri" pitchFamily="34" charset="-120"/>
              </a:rPr>
              <a:t>   model card, threshold explorer, fairness</a:t>
            </a:r>
            <a:endParaRPr lang="en-US" sz="2000" dirty="0"/>
          </a:p>
        </p:txBody>
      </p:sp>
      <p:sp>
        <p:nvSpPr>
          <p:cNvPr id="13" name="Shape 10"/>
          <p:cNvSpPr/>
          <p:nvPr/>
        </p:nvSpPr>
        <p:spPr>
          <a:xfrm>
            <a:off x="640080" y="3557016"/>
            <a:ext cx="457200" cy="457200"/>
          </a:xfrm>
          <a:prstGeom prst="ellipse">
            <a:avLst/>
          </a:prstGeom>
          <a:solidFill>
            <a:srgbClr val="EA6A12"/>
          </a:solidFill>
          <a:ln w="6350">
            <a:solidFill>
              <a:srgbClr val="EA6A12"/>
            </a:solidFill>
            <a:prstDash val="solid"/>
          </a:ln>
        </p:spPr>
      </p:sp>
      <p:sp>
        <p:nvSpPr>
          <p:cNvPr id="14" name="Text 11"/>
          <p:cNvSpPr txBox="1"/>
          <p:nvPr/>
        </p:nvSpPr>
        <p:spPr>
          <a:xfrm>
            <a:off x="640080" y="355701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15" name="Text 12"/>
          <p:cNvSpPr txBox="1"/>
          <p:nvPr/>
        </p:nvSpPr>
        <p:spPr>
          <a:xfrm>
            <a:off x="1325880" y="3557016"/>
            <a:ext cx="731520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Assistant</a:t>
            </a:r>
            <a:pPr indent="0" marL="0">
              <a:buNone/>
            </a:pPr>
            <a:r>
              <a:rPr lang="en-US" sz="1500" dirty="0">
                <a:solidFill>
                  <a:srgbClr val="CADCFC"/>
                </a:solidFill>
                <a:latin typeface="Calibri" pitchFamily="34" charset="0"/>
                <a:ea typeface="Calibri" pitchFamily="34" charset="-122"/>
                <a:cs typeface="Calibri" pitchFamily="34" charset="-120"/>
              </a:rPr>
              <a:t>   suggested question, chart, validated SQL</a:t>
            </a:r>
            <a:endParaRPr lang="en-US" sz="2000" dirty="0"/>
          </a:p>
        </p:txBody>
      </p:sp>
      <p:sp>
        <p:nvSpPr>
          <p:cNvPr id="16" name="Shape 13"/>
          <p:cNvSpPr/>
          <p:nvPr/>
        </p:nvSpPr>
        <p:spPr>
          <a:xfrm>
            <a:off x="640080" y="4270248"/>
            <a:ext cx="457200" cy="457200"/>
          </a:xfrm>
          <a:prstGeom prst="ellipse">
            <a:avLst/>
          </a:prstGeom>
          <a:solidFill>
            <a:srgbClr val="EA6A12"/>
          </a:solidFill>
          <a:ln w="6350">
            <a:solidFill>
              <a:srgbClr val="EA6A12"/>
            </a:solidFill>
            <a:prstDash val="solid"/>
          </a:ln>
        </p:spPr>
      </p:sp>
      <p:sp>
        <p:nvSpPr>
          <p:cNvPr id="17" name="Text 14"/>
          <p:cNvSpPr txBox="1"/>
          <p:nvPr/>
        </p:nvSpPr>
        <p:spPr>
          <a:xfrm>
            <a:off x="640080" y="4270248"/>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5</a:t>
            </a:r>
            <a:endParaRPr lang="en-US" sz="1600" dirty="0"/>
          </a:p>
        </p:txBody>
      </p:sp>
      <p:sp>
        <p:nvSpPr>
          <p:cNvPr id="18" name="Text 15"/>
          <p:cNvSpPr txBox="1"/>
          <p:nvPr/>
        </p:nvSpPr>
        <p:spPr>
          <a:xfrm>
            <a:off x="1325880" y="4270248"/>
            <a:ext cx="7315200" cy="45720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Report</a:t>
            </a:r>
            <a:pPr indent="0" marL="0">
              <a:buNone/>
            </a:pPr>
            <a:r>
              <a:rPr lang="en-US" sz="1500" dirty="0">
                <a:solidFill>
                  <a:srgbClr val="CADCFC"/>
                </a:solidFill>
                <a:latin typeface="Calibri" pitchFamily="34" charset="0"/>
                <a:ea typeface="Calibri" pitchFamily="34" charset="-122"/>
                <a:cs typeface="Calibri" pitchFamily="34" charset="-120"/>
              </a:rPr>
              <a:t>   one-click printable PDF</a:t>
            </a:r>
            <a:endParaRPr lang="en-US" sz="20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CC3C0"/>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itle"/>
          <p:cNvSpPr txBox="1"/>
          <p:nvPr/>
        </p:nvSpPr>
        <p:spPr>
          <a:xfrm>
            <a:off x="457200" y="274320"/>
            <a:ext cx="8229600" cy="685800"/>
          </a:xfrm>
          <a:prstGeom prst="rect">
            <a:avLst/>
          </a:prstGeom>
          <a:noFill/>
          <a:ln/>
        </p:spPr>
        <p:txBody>
          <a:bodyPr wrap="square" lIns="0" tIns="0" rIns="0" bIns="0" rtlCol="0" anchor="ctr"/>
          <a:lstStyle/>
          <a:p>
            <a:pPr indent="0" marL="0">
              <a:buNone/>
            </a:pPr>
            <a:r>
              <a:rPr lang="en-US" sz="3000" b="1" dirty="0">
                <a:solidFill>
                  <a:srgbClr val="0B3C49"/>
                </a:solidFill>
                <a:latin typeface="Cambria" pitchFamily="34" charset="0"/>
                <a:ea typeface="Cambria" pitchFamily="34" charset="-122"/>
                <a:cs typeface="Cambria" pitchFamily="34" charset="-120"/>
              </a:rPr>
              <a:t>Limitations and responsible use</a:t>
            </a:r>
            <a:endParaRPr lang="en-US" sz="3000" dirty="0"/>
          </a:p>
        </p:txBody>
      </p:sp>
      <p:sp>
        <p:nvSpPr>
          <p:cNvPr id="4" name="Shape 1"/>
          <p:cNvSpPr/>
          <p:nvPr/>
        </p:nvSpPr>
        <p:spPr>
          <a:xfrm>
            <a:off x="457200" y="1188720"/>
            <a:ext cx="4023360" cy="3429000"/>
          </a:xfrm>
          <a:prstGeom prst="roundRect">
            <a:avLst>
              <a:gd name="adj" fmla="val 2133"/>
            </a:avLst>
          </a:prstGeom>
          <a:solidFill>
            <a:srgbClr val="E6F2F1"/>
          </a:solidFill>
          <a:ln w="6350">
            <a:solidFill>
              <a:srgbClr val="E6F2F1"/>
            </a:solidFill>
            <a:prstDash val="solid"/>
          </a:ln>
        </p:spPr>
      </p:sp>
      <p:sp>
        <p:nvSpPr>
          <p:cNvPr id="5" name="Text 2"/>
          <p:cNvSpPr txBox="1"/>
          <p:nvPr/>
        </p:nvSpPr>
        <p:spPr>
          <a:xfrm>
            <a:off x="685800" y="1298448"/>
            <a:ext cx="3566160" cy="365760"/>
          </a:xfrm>
          <a:prstGeom prst="rect">
            <a:avLst/>
          </a:prstGeom>
          <a:noFill/>
          <a:ln/>
        </p:spPr>
        <p:txBody>
          <a:bodyPr wrap="square" lIns="0" tIns="0" rIns="0" bIns="0" rtlCol="0" anchor="ctr"/>
          <a:lstStyle/>
          <a:p>
            <a:pPr indent="0" marL="0">
              <a:buNone/>
            </a:pPr>
            <a:r>
              <a:rPr lang="en-US" sz="1800" b="1" dirty="0">
                <a:solidFill>
                  <a:srgbClr val="EA6A12"/>
                </a:solidFill>
                <a:latin typeface="Cambria" pitchFamily="34" charset="0"/>
                <a:ea typeface="Cambria" pitchFamily="34" charset="-122"/>
                <a:cs typeface="Cambria" pitchFamily="34" charset="-120"/>
              </a:rPr>
              <a:t>Limitations</a:t>
            </a:r>
            <a:endParaRPr lang="en-US" sz="1800" dirty="0"/>
          </a:p>
        </p:txBody>
      </p:sp>
      <p:sp>
        <p:nvSpPr>
          <p:cNvPr id="6" name="Text 3"/>
          <p:cNvSpPr txBox="1"/>
          <p:nvPr/>
        </p:nvSpPr>
        <p:spPr>
          <a:xfrm>
            <a:off x="685800" y="1783080"/>
            <a:ext cx="3611880" cy="2267712"/>
          </a:xfrm>
          <a:prstGeom prst="rect">
            <a:avLst/>
          </a:prstGeom>
          <a:noFill/>
          <a:ln/>
        </p:spPr>
        <p:txBody>
          <a:bodyPr wrap="square" lIns="0" tIns="0" rIns="0" bIns="0" rtlCol="0" anchor="t"/>
          <a:lstStyle/>
          <a:p>
            <a:pPr marL="177800" indent="-177800">
              <a:spcAft>
                <a:spcPts val="1440"/>
              </a:spcAft>
              <a:buSzPct val="100000"/>
              <a:buChar char="•"/>
            </a:pPr>
            <a:r>
              <a:rPr lang="en-US" sz="1500" dirty="0">
                <a:solidFill>
                  <a:srgbClr val="1F2937"/>
                </a:solidFill>
                <a:latin typeface="Calibri" pitchFamily="34" charset="0"/>
                <a:ea typeface="Calibri" pitchFamily="34" charset="-122"/>
                <a:cs typeface="Calibri" pitchFamily="34" charset="-120"/>
              </a:rPr>
              <a:t>Data from 1999–2008, no dates: no temporal or external validation</a:t>
            </a:r>
            <a:endParaRPr lang="en-US" sz="1500" dirty="0"/>
          </a:p>
          <a:p>
            <a:pPr marL="177800" indent="-177800">
              <a:spcAft>
                <a:spcPts val="1440"/>
              </a:spcAft>
              <a:buSzPct val="100000"/>
              <a:buChar char="•"/>
            </a:pPr>
            <a:r>
              <a:rPr lang="en-US" sz="1500" dirty="0">
                <a:solidFill>
                  <a:srgbClr val="1F2937"/>
                </a:solidFill>
                <a:latin typeface="Calibri" pitchFamily="34" charset="0"/>
                <a:ea typeface="Calibri" pitchFamily="34" charset="-122"/>
                <a:cs typeface="Calibri" pitchFamily="34" charset="-120"/>
              </a:rPr>
              <a:t>Modest signal: ROC-AUC about 0.67</a:t>
            </a:r>
            <a:endParaRPr lang="en-US" sz="1500" dirty="0"/>
          </a:p>
          <a:p>
            <a:pPr marL="177800" indent="-177800">
              <a:spcAft>
                <a:spcPts val="1440"/>
              </a:spcAft>
              <a:buSzPct val="100000"/>
              <a:buChar char="•"/>
            </a:pPr>
            <a:r>
              <a:rPr lang="en-US" sz="1500" dirty="0">
                <a:solidFill>
                  <a:srgbClr val="1F2937"/>
                </a:solidFill>
                <a:latin typeface="Calibri" pitchFamily="34" charset="0"/>
                <a:ea typeface="Calibri" pitchFamily="34" charset="-122"/>
                <a:cs typeface="Calibri" pitchFamily="34" charset="-120"/>
              </a:rPr>
              <a:t>Small subgroups limit fairness conclusions</a:t>
            </a:r>
            <a:endParaRPr lang="en-US" sz="1500" dirty="0"/>
          </a:p>
          <a:p>
            <a:pPr marL="177800" indent="-177800">
              <a:spcAft>
                <a:spcPts val="1440"/>
              </a:spcAft>
              <a:buSzPct val="100000"/>
              <a:buChar char="•"/>
            </a:pPr>
            <a:r>
              <a:rPr lang="en-US" sz="1500" dirty="0">
                <a:solidFill>
                  <a:srgbClr val="1F2937"/>
                </a:solidFill>
                <a:latin typeface="Calibri" pitchFamily="34" charset="0"/>
                <a:ea typeface="Calibri" pitchFamily="34" charset="-122"/>
                <a:cs typeface="Calibri" pitchFamily="34" charset="-120"/>
              </a:rPr>
              <a:t>Observational: associations, not causes</a:t>
            </a:r>
            <a:endParaRPr lang="en-US" sz="1500" dirty="0"/>
          </a:p>
        </p:txBody>
      </p:sp>
      <p:sp>
        <p:nvSpPr>
          <p:cNvPr id="7" name="Shape 4"/>
          <p:cNvSpPr/>
          <p:nvPr/>
        </p:nvSpPr>
        <p:spPr>
          <a:xfrm>
            <a:off x="4663440" y="1188720"/>
            <a:ext cx="4023360" cy="3429000"/>
          </a:xfrm>
          <a:prstGeom prst="roundRect">
            <a:avLst>
              <a:gd name="adj" fmla="val 2133"/>
            </a:avLst>
          </a:prstGeom>
          <a:solidFill>
            <a:srgbClr val="E6F2F1"/>
          </a:solidFill>
          <a:ln w="6350">
            <a:solidFill>
              <a:srgbClr val="E6F2F1"/>
            </a:solidFill>
            <a:prstDash val="solid"/>
          </a:ln>
        </p:spPr>
      </p:sp>
      <p:sp>
        <p:nvSpPr>
          <p:cNvPr id="8" name="Text 5"/>
          <p:cNvSpPr txBox="1"/>
          <p:nvPr/>
        </p:nvSpPr>
        <p:spPr>
          <a:xfrm>
            <a:off x="4892040" y="1298448"/>
            <a:ext cx="3566160" cy="365760"/>
          </a:xfrm>
          <a:prstGeom prst="rect">
            <a:avLst/>
          </a:prstGeom>
          <a:noFill/>
          <a:ln/>
        </p:spPr>
        <p:txBody>
          <a:bodyPr wrap="square" lIns="0" tIns="0" rIns="0" bIns="0" rtlCol="0" anchor="ctr"/>
          <a:lstStyle/>
          <a:p>
            <a:pPr indent="0" marL="0">
              <a:buNone/>
            </a:pPr>
            <a:r>
              <a:rPr lang="en-US" sz="1800" b="1" dirty="0">
                <a:solidFill>
                  <a:srgbClr val="0F766E"/>
                </a:solidFill>
                <a:latin typeface="Cambria" pitchFamily="34" charset="0"/>
                <a:ea typeface="Cambria" pitchFamily="34" charset="-122"/>
                <a:cs typeface="Cambria" pitchFamily="34" charset="-120"/>
              </a:rPr>
              <a:t>Responsible use</a:t>
            </a:r>
            <a:endParaRPr lang="en-US" sz="1800" dirty="0"/>
          </a:p>
        </p:txBody>
      </p:sp>
      <p:sp>
        <p:nvSpPr>
          <p:cNvPr id="9" name="Text 6"/>
          <p:cNvSpPr txBox="1"/>
          <p:nvPr/>
        </p:nvSpPr>
        <p:spPr>
          <a:xfrm>
            <a:off x="4892040" y="1783080"/>
            <a:ext cx="3611880" cy="2267712"/>
          </a:xfrm>
          <a:prstGeom prst="rect">
            <a:avLst/>
          </a:prstGeom>
          <a:noFill/>
          <a:ln/>
        </p:spPr>
        <p:txBody>
          <a:bodyPr wrap="square" lIns="0" tIns="0" rIns="0" bIns="0" rtlCol="0" anchor="t"/>
          <a:lstStyle/>
          <a:p>
            <a:pPr marL="177800" indent="-177800">
              <a:spcAft>
                <a:spcPts val="1440"/>
              </a:spcAft>
              <a:buSzPct val="100000"/>
              <a:buChar char="•"/>
            </a:pPr>
            <a:r>
              <a:rPr lang="en-US" sz="1500" dirty="0">
                <a:solidFill>
                  <a:srgbClr val="1F2937"/>
                </a:solidFill>
                <a:latin typeface="Calibri" pitchFamily="34" charset="0"/>
                <a:ea typeface="Calibri" pitchFamily="34" charset="-122"/>
                <a:cs typeface="Calibri" pitchFamily="34" charset="-120"/>
              </a:rPr>
              <a:t>De-identified data; identifiers never exposed by the assistant</a:t>
            </a:r>
            <a:endParaRPr lang="en-US" sz="1500" dirty="0"/>
          </a:p>
          <a:p>
            <a:pPr marL="177800" indent="-177800">
              <a:spcAft>
                <a:spcPts val="1440"/>
              </a:spcAft>
              <a:buSzPct val="100000"/>
              <a:buChar char="•"/>
            </a:pPr>
            <a:r>
              <a:rPr lang="en-US" sz="1500" dirty="0">
                <a:solidFill>
                  <a:srgbClr val="1F2937"/>
                </a:solidFill>
                <a:latin typeface="Calibri" pitchFamily="34" charset="0"/>
                <a:ea typeface="Calibri" pitchFamily="34" charset="-122"/>
                <a:cs typeface="Calibri" pitchFamily="34" charset="-120"/>
              </a:rPr>
              <a:t>Both readmission definitions labelled everywhere</a:t>
            </a:r>
            <a:endParaRPr lang="en-US" sz="1500" dirty="0"/>
          </a:p>
          <a:p>
            <a:pPr marL="177800" indent="-177800">
              <a:spcAft>
                <a:spcPts val="1440"/>
              </a:spcAft>
              <a:buSzPct val="100000"/>
              <a:buChar char="•"/>
            </a:pPr>
            <a:r>
              <a:rPr lang="en-US" sz="1500" dirty="0">
                <a:solidFill>
                  <a:srgbClr val="1F2937"/>
                </a:solidFill>
                <a:latin typeface="Calibri" pitchFamily="34" charset="0"/>
                <a:ea typeface="Calibri" pitchFamily="34" charset="-122"/>
                <a:cs typeface="Calibri" pitchFamily="34" charset="-120"/>
              </a:rPr>
              <a:t>Model card and “not for clinical use” notices</a:t>
            </a:r>
            <a:endParaRPr lang="en-US" sz="1500" dirty="0"/>
          </a:p>
          <a:p>
            <a:pPr marL="177800" indent="-177800">
              <a:spcAft>
                <a:spcPts val="1440"/>
              </a:spcAft>
              <a:buSzPct val="100000"/>
              <a:buChar char="•"/>
            </a:pPr>
            <a:r>
              <a:rPr lang="en-US" sz="1500" dirty="0">
                <a:solidFill>
                  <a:srgbClr val="1F2937"/>
                </a:solidFill>
                <a:latin typeface="Calibri" pitchFamily="34" charset="0"/>
                <a:ea typeface="Calibri" pitchFamily="34" charset="-122"/>
                <a:cs typeface="Calibri" pitchFamily="34" charset="-120"/>
              </a:rPr>
              <a:t>Real deployment needs clinical validation, governance and real authentication</a:t>
            </a:r>
            <a:endParaRPr lang="en-US" sz="15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5B6670"/>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itle"/>
          <p:cNvSpPr txBox="1"/>
          <p:nvPr/>
        </p:nvSpPr>
        <p:spPr>
          <a:xfrm>
            <a:off x="640080" y="457200"/>
            <a:ext cx="7863840" cy="731520"/>
          </a:xfrm>
          <a:prstGeom prst="rect">
            <a:avLst/>
          </a:prstGeom>
          <a:noFill/>
          <a:ln/>
        </p:spPr>
        <p:txBody>
          <a:bodyPr wrap="square" lIns="0" tIns="0" rIns="0" bIns="0"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Conclusions</a:t>
            </a:r>
            <a:endParaRPr lang="en-US" sz="3600" dirty="0"/>
          </a:p>
        </p:txBody>
      </p:sp>
      <p:sp>
        <p:nvSpPr>
          <p:cNvPr id="4" name="Text 1"/>
          <p:cNvSpPr txBox="1"/>
          <p:nvPr/>
        </p:nvSpPr>
        <p:spPr>
          <a:xfrm>
            <a:off x="640080" y="1417320"/>
            <a:ext cx="548640" cy="822960"/>
          </a:xfrm>
          <a:prstGeom prst="rect">
            <a:avLst/>
          </a:prstGeom>
          <a:noFill/>
          <a:ln/>
        </p:spPr>
        <p:txBody>
          <a:bodyPr wrap="square" lIns="0" tIns="0" rIns="0" bIns="0" rtlCol="0" anchor="t"/>
          <a:lstStyle/>
          <a:p>
            <a:pPr indent="0" marL="0">
              <a:buNone/>
            </a:pPr>
            <a:r>
              <a:rPr lang="en-US" sz="4000" b="1" dirty="0">
                <a:solidFill>
                  <a:srgbClr val="EA6A12"/>
                </a:solidFill>
                <a:latin typeface="Cambria" pitchFamily="34" charset="0"/>
                <a:ea typeface="Cambria" pitchFamily="34" charset="-122"/>
                <a:cs typeface="Cambria" pitchFamily="34" charset="-120"/>
              </a:rPr>
              <a:t>1</a:t>
            </a:r>
            <a:endParaRPr lang="en-US" sz="4000" dirty="0"/>
          </a:p>
        </p:txBody>
      </p:sp>
      <p:sp>
        <p:nvSpPr>
          <p:cNvPr id="5" name="Text 2"/>
          <p:cNvSpPr txBox="1"/>
          <p:nvPr/>
        </p:nvSpPr>
        <p:spPr>
          <a:xfrm>
            <a:off x="1325880" y="1417320"/>
            <a:ext cx="7315200" cy="914400"/>
          </a:xfrm>
          <a:prstGeom prst="rect">
            <a:avLst/>
          </a:prstGeom>
          <a:noFill/>
          <a:ln/>
        </p:spPr>
        <p:txBody>
          <a:bodyPr wrap="square" lIns="0" tIns="0" rIns="0" bIns="0" rtlCol="0" anchor="t"/>
          <a:lstStyle/>
          <a:p>
            <a:pPr indent="0" marL="0">
              <a:buNone/>
            </a:pPr>
            <a:r>
              <a:rPr lang="en-US" sz="1900" b="1" dirty="0">
                <a:solidFill>
                  <a:srgbClr val="FFFFFF"/>
                </a:solidFill>
                <a:latin typeface="Calibri" pitchFamily="34" charset="0"/>
                <a:ea typeface="Calibri" pitchFamily="34" charset="-122"/>
                <a:cs typeface="Calibri" pitchFamily="34" charset="-120"/>
              </a:rPr>
              <a:t>A leakage-safe, calibrated model (ROC-AUC 0.669)</a:t>
            </a:r>
            <a:endParaRPr lang="en-US" sz="1900" dirty="0"/>
          </a:p>
          <a:p>
            <a:pPr indent="0" marL="0">
              <a:buNone/>
            </a:pPr>
            <a:r>
              <a:rPr lang="en-US" sz="1400" dirty="0">
                <a:solidFill>
                  <a:srgbClr val="CADCFC"/>
                </a:solidFill>
                <a:latin typeface="Calibri" pitchFamily="34" charset="0"/>
                <a:ea typeface="Calibri" pitchFamily="34" charset="-122"/>
                <a:cs typeface="Calibri" pitchFamily="34" charset="-120"/>
              </a:rPr>
              <a:t>catches 43.8% of readmissions at a validation-chosen cutoff, with its limits stated</a:t>
            </a:r>
            <a:endParaRPr lang="en-US" sz="1900" dirty="0"/>
          </a:p>
        </p:txBody>
      </p:sp>
      <p:sp>
        <p:nvSpPr>
          <p:cNvPr id="6" name="Text 3"/>
          <p:cNvSpPr txBox="1"/>
          <p:nvPr/>
        </p:nvSpPr>
        <p:spPr>
          <a:xfrm>
            <a:off x="640080" y="2468880"/>
            <a:ext cx="548640" cy="822960"/>
          </a:xfrm>
          <a:prstGeom prst="rect">
            <a:avLst/>
          </a:prstGeom>
          <a:noFill/>
          <a:ln/>
        </p:spPr>
        <p:txBody>
          <a:bodyPr wrap="square" lIns="0" tIns="0" rIns="0" bIns="0" rtlCol="0" anchor="t"/>
          <a:lstStyle/>
          <a:p>
            <a:pPr indent="0" marL="0">
              <a:buNone/>
            </a:pPr>
            <a:r>
              <a:rPr lang="en-US" sz="4000" b="1" dirty="0">
                <a:solidFill>
                  <a:srgbClr val="EA6A12"/>
                </a:solidFill>
                <a:latin typeface="Cambria" pitchFamily="34" charset="0"/>
                <a:ea typeface="Cambria" pitchFamily="34" charset="-122"/>
                <a:cs typeface="Cambria" pitchFamily="34" charset="-120"/>
              </a:rPr>
              <a:t>2</a:t>
            </a:r>
            <a:endParaRPr lang="en-US" sz="4000" dirty="0"/>
          </a:p>
        </p:txBody>
      </p:sp>
      <p:sp>
        <p:nvSpPr>
          <p:cNvPr id="7" name="Text 4"/>
          <p:cNvSpPr txBox="1"/>
          <p:nvPr/>
        </p:nvSpPr>
        <p:spPr>
          <a:xfrm>
            <a:off x="1325880" y="2468880"/>
            <a:ext cx="7315200" cy="914400"/>
          </a:xfrm>
          <a:prstGeom prst="rect">
            <a:avLst/>
          </a:prstGeom>
          <a:noFill/>
          <a:ln/>
        </p:spPr>
        <p:txBody>
          <a:bodyPr wrap="square" lIns="0" tIns="0" rIns="0" bIns="0" rtlCol="0" anchor="t"/>
          <a:lstStyle/>
          <a:p>
            <a:pPr indent="0" marL="0">
              <a:buNone/>
            </a:pPr>
            <a:r>
              <a:rPr lang="en-US" sz="1900" b="1" dirty="0">
                <a:solidFill>
                  <a:srgbClr val="FFFFFF"/>
                </a:solidFill>
                <a:latin typeface="Calibri" pitchFamily="34" charset="0"/>
                <a:ea typeface="Calibri" pitchFamily="34" charset="-122"/>
                <a:cs typeface="Calibri" pitchFamily="34" charset="-120"/>
              </a:rPr>
              <a:t>Fairness and statistics reported with uncertainty</a:t>
            </a:r>
            <a:endParaRPr lang="en-US" sz="1900" dirty="0"/>
          </a:p>
          <a:p>
            <a:pPr indent="0" marL="0">
              <a:buNone/>
            </a:pPr>
            <a:r>
              <a:rPr lang="en-US" sz="1400" dirty="0">
                <a:solidFill>
                  <a:srgbClr val="CADCFC"/>
                </a:solidFill>
                <a:latin typeface="Calibri" pitchFamily="34" charset="0"/>
                <a:ea typeface="Calibri" pitchFamily="34" charset="-122"/>
                <a:cs typeface="Calibri" pitchFamily="34" charset="-120"/>
              </a:rPr>
              <a:t>supported gaps separated from likely noise; HbA1c results stated honestly</a:t>
            </a:r>
            <a:endParaRPr lang="en-US" sz="1900" dirty="0"/>
          </a:p>
        </p:txBody>
      </p:sp>
      <p:sp>
        <p:nvSpPr>
          <p:cNvPr id="8" name="Text 5"/>
          <p:cNvSpPr txBox="1"/>
          <p:nvPr/>
        </p:nvSpPr>
        <p:spPr>
          <a:xfrm>
            <a:off x="640080" y="3520440"/>
            <a:ext cx="548640" cy="822960"/>
          </a:xfrm>
          <a:prstGeom prst="rect">
            <a:avLst/>
          </a:prstGeom>
          <a:noFill/>
          <a:ln/>
        </p:spPr>
        <p:txBody>
          <a:bodyPr wrap="square" lIns="0" tIns="0" rIns="0" bIns="0" rtlCol="0" anchor="t"/>
          <a:lstStyle/>
          <a:p>
            <a:pPr indent="0" marL="0">
              <a:buNone/>
            </a:pPr>
            <a:r>
              <a:rPr lang="en-US" sz="4000" b="1" dirty="0">
                <a:solidFill>
                  <a:srgbClr val="EA6A12"/>
                </a:solidFill>
                <a:latin typeface="Cambria" pitchFamily="34" charset="0"/>
                <a:ea typeface="Cambria" pitchFamily="34" charset="-122"/>
                <a:cs typeface="Cambria" pitchFamily="34" charset="-120"/>
              </a:rPr>
              <a:t>3</a:t>
            </a:r>
            <a:endParaRPr lang="en-US" sz="4000" dirty="0"/>
          </a:p>
        </p:txBody>
      </p:sp>
      <p:sp>
        <p:nvSpPr>
          <p:cNvPr id="9" name="Text 6"/>
          <p:cNvSpPr txBox="1"/>
          <p:nvPr/>
        </p:nvSpPr>
        <p:spPr>
          <a:xfrm>
            <a:off x="1325880" y="3520440"/>
            <a:ext cx="7315200" cy="914400"/>
          </a:xfrm>
          <a:prstGeom prst="rect">
            <a:avLst/>
          </a:prstGeom>
          <a:noFill/>
          <a:ln/>
        </p:spPr>
        <p:txBody>
          <a:bodyPr wrap="square" lIns="0" tIns="0" rIns="0" bIns="0" rtlCol="0" anchor="t"/>
          <a:lstStyle/>
          <a:p>
            <a:pPr indent="0" marL="0">
              <a:buNone/>
            </a:pPr>
            <a:r>
              <a:rPr lang="en-US" sz="1900" b="1" dirty="0">
                <a:solidFill>
                  <a:srgbClr val="FFFFFF"/>
                </a:solidFill>
                <a:latin typeface="Calibri" pitchFamily="34" charset="0"/>
                <a:ea typeface="Calibri" pitchFamily="34" charset="-122"/>
                <a:cs typeface="Calibri" pitchFamily="34" charset="-120"/>
              </a:rPr>
              <a:t>An assistant whose answers are validated and evidence-checked</a:t>
            </a:r>
            <a:endParaRPr lang="en-US" sz="1900" dirty="0"/>
          </a:p>
          <a:p>
            <a:pPr indent="0" marL="0">
              <a:buNone/>
            </a:pPr>
            <a:r>
              <a:rPr lang="en-US" sz="1400" dirty="0">
                <a:solidFill>
                  <a:srgbClr val="CADCFC"/>
                </a:solidFill>
                <a:latin typeface="Calibri" pitchFamily="34" charset="0"/>
                <a:ea typeface="Calibri" pitchFamily="34" charset="-122"/>
                <a:cs typeface="Calibri" pitchFamily="34" charset="-120"/>
              </a:rPr>
              <a:t>12 of 12 curated questions correct live</a:t>
            </a:r>
            <a:endParaRPr lang="en-US" sz="1900" dirty="0"/>
          </a:p>
        </p:txBody>
      </p:sp>
      <p:sp>
        <p:nvSpPr>
          <p:cNvPr id="10" name="Text 7"/>
          <p:cNvSpPr txBox="1"/>
          <p:nvPr/>
        </p:nvSpPr>
        <p:spPr>
          <a:xfrm>
            <a:off x="640080" y="4434840"/>
            <a:ext cx="4572000" cy="365760"/>
          </a:xfrm>
          <a:prstGeom prst="rect">
            <a:avLst/>
          </a:prstGeom>
          <a:noFill/>
          <a:ln/>
        </p:spPr>
        <p:txBody>
          <a:bodyPr wrap="square" lIns="0" tIns="0" rIns="0" bIns="0" rtlCol="0" anchor="ctr"/>
          <a:lstStyle/>
          <a:p>
            <a:pPr indent="0" marL="0">
              <a:buNone/>
            </a:pPr>
            <a:r>
              <a:rPr lang="en-US" sz="2000" i="1" dirty="0">
                <a:solidFill>
                  <a:srgbClr val="5EEAD4"/>
                </a:solidFill>
                <a:latin typeface="Cambria" pitchFamily="34" charset="0"/>
                <a:ea typeface="Cambria" pitchFamily="34" charset="-122"/>
                <a:cs typeface="Cambria" pitchFamily="34" charset="-120"/>
              </a:rPr>
              <a:t>Questions?</a:t>
            </a:r>
            <a:endParaRPr lang="en-US" sz="2000" dirty="0"/>
          </a:p>
        </p:txBody>
      </p:sp>
      <p:sp>
        <p:nvSpPr>
          <p:cNvPr id="25" name="Slide Number Placeholder 0"/>
          <p:cNvSpPr>
            <a:spLocks noGrp="1"/>
          </p:cNvSpPr>
          <p:nvPr>
            <p:ph type="sldNum" sz="quarter" idx="4294967295"/>
          </p:nvPr>
        </p:nvSpPr>
        <p:spPr>
          <a:xfrm>
            <a:off x="8412480" y="4754880"/>
            <a:ext cx="457200" cy="228600"/>
          </a:xfrm>
          <a:prstGeom prst="rect">
            <a:avLst/>
          </a:prstGeom>
          <a:extLst>
            <a:ext uri="{C572A759-6A51-4108-AA02-DFA0A04FC94B}">
              <ma14:wrappingTextBoxFlag xmlns:ma14="http://schemas.microsoft.com/office/mac/drawingml/2011/main" val="0"/>
            </a:ext>
          </a:extLst>
        </p:spPr>
        <p:txBody>
          <a:bodyPr/>
          <a:lstStyle>
            <a:lvl1pPr>
              <a:defRPr sz="900">
                <a:solidFill>
                  <a:srgbClr val="9CC3C0"/>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and Understanding 30-Day Hospital Readmission in Diabetes</dc:title>
  <dc:subject>PptxGenJS Presentation</dc:subject>
  <dc:creator>MedOrch project</dc:creator>
  <cp:lastModifiedBy>MedOrch project</cp:lastModifiedBy>
  <cp:revision>1</cp:revision>
  <dcterms:created xsi:type="dcterms:W3CDTF">2026-10-11T02:52:59Z</dcterms:created>
  <dcterms:modified xsi:type="dcterms:W3CDTF">2026-10-11T02:52:59Z</dcterms:modified>
</cp:coreProperties>
</file>